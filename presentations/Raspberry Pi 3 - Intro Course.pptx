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43"/>
  </p:notesMasterIdLst>
  <p:sldIdLst>
    <p:sldId id="256" r:id="rId2"/>
    <p:sldId id="257" r:id="rId3"/>
    <p:sldId id="260" r:id="rId4"/>
    <p:sldId id="261" r:id="rId5"/>
    <p:sldId id="264" r:id="rId6"/>
    <p:sldId id="258" r:id="rId7"/>
    <p:sldId id="259" r:id="rId8"/>
    <p:sldId id="287" r:id="rId9"/>
    <p:sldId id="266" r:id="rId10"/>
    <p:sldId id="267" r:id="rId11"/>
    <p:sldId id="268" r:id="rId12"/>
    <p:sldId id="269" r:id="rId13"/>
    <p:sldId id="284" r:id="rId14"/>
    <p:sldId id="288" r:id="rId15"/>
    <p:sldId id="285" r:id="rId16"/>
    <p:sldId id="289" r:id="rId17"/>
    <p:sldId id="286" r:id="rId18"/>
    <p:sldId id="273" r:id="rId19"/>
    <p:sldId id="271" r:id="rId20"/>
    <p:sldId id="281" r:id="rId21"/>
    <p:sldId id="292" r:id="rId22"/>
    <p:sldId id="293" r:id="rId23"/>
    <p:sldId id="294" r:id="rId24"/>
    <p:sldId id="291" r:id="rId25"/>
    <p:sldId id="298" r:id="rId26"/>
    <p:sldId id="295" r:id="rId27"/>
    <p:sldId id="296" r:id="rId28"/>
    <p:sldId id="297" r:id="rId29"/>
    <p:sldId id="277" r:id="rId30"/>
    <p:sldId id="300" r:id="rId31"/>
    <p:sldId id="301" r:id="rId32"/>
    <p:sldId id="302" r:id="rId33"/>
    <p:sldId id="312" r:id="rId34"/>
    <p:sldId id="299" r:id="rId35"/>
    <p:sldId id="304" r:id="rId36"/>
    <p:sldId id="305" r:id="rId37"/>
    <p:sldId id="313" r:id="rId38"/>
    <p:sldId id="303" r:id="rId39"/>
    <p:sldId id="314" r:id="rId40"/>
    <p:sldId id="283" r:id="rId41"/>
    <p:sldId id="28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047639-E70C-4FB8-9482-603728E4A687}">
          <p14:sldIdLst>
            <p14:sldId id="256"/>
          </p14:sldIdLst>
        </p14:section>
        <p14:section name="Introduction" id="{E121AE3B-9504-4466-9F0A-7B46C6978B64}">
          <p14:sldIdLst>
            <p14:sldId id="257"/>
            <p14:sldId id="260"/>
            <p14:sldId id="261"/>
            <p14:sldId id="264"/>
          </p14:sldIdLst>
        </p14:section>
        <p14:section name="Board Layout" id="{067DC5FB-89D5-4AA6-851D-9B52BC769090}">
          <p14:sldIdLst>
            <p14:sldId id="258"/>
            <p14:sldId id="259"/>
            <p14:sldId id="287"/>
          </p14:sldIdLst>
        </p14:section>
        <p14:section name="Board Details" id="{9EBD4B5B-1D5E-4F97-9191-5E070804BA26}">
          <p14:sldIdLst>
            <p14:sldId id="266"/>
          </p14:sldIdLst>
        </p14:section>
        <p14:section name="Board Software/OS" id="{BDF99513-26E6-4F05-AC4F-CBB760765B56}">
          <p14:sldIdLst>
            <p14:sldId id="267"/>
            <p14:sldId id="268"/>
          </p14:sldIdLst>
        </p14:section>
        <p14:section name="Hands-on: Setup, Boot, Bringup" id="{270B32CE-731F-49E3-B4B0-EE0DEA506004}">
          <p14:sldIdLst>
            <p14:sldId id="269"/>
            <p14:sldId id="284"/>
            <p14:sldId id="288"/>
          </p14:sldIdLst>
        </p14:section>
        <p14:section name="Interaction" id="{5A32CD3B-01A8-4753-BB9A-BF34DC199587}">
          <p14:sldIdLst>
            <p14:sldId id="285"/>
            <p14:sldId id="289"/>
          </p14:sldIdLst>
        </p14:section>
        <p14:section name="Networking, File-sharing" id="{C1E5EE40-B390-4F02-8907-B8C07C811487}">
          <p14:sldIdLst>
            <p14:sldId id="286"/>
            <p14:sldId id="273"/>
            <p14:sldId id="271"/>
            <p14:sldId id="281"/>
            <p14:sldId id="292"/>
            <p14:sldId id="293"/>
            <p14:sldId id="294"/>
            <p14:sldId id="291"/>
            <p14:sldId id="298"/>
            <p14:sldId id="295"/>
            <p14:sldId id="296"/>
            <p14:sldId id="297"/>
            <p14:sldId id="277"/>
            <p14:sldId id="300"/>
            <p14:sldId id="301"/>
            <p14:sldId id="302"/>
            <p14:sldId id="312"/>
          </p14:sldIdLst>
        </p14:section>
        <p14:section name="Graphics and Imaging" id="{98DB752B-1F26-4307-AF46-FA35F33A4603}">
          <p14:sldIdLst>
            <p14:sldId id="299"/>
            <p14:sldId id="304"/>
            <p14:sldId id="305"/>
            <p14:sldId id="313"/>
          </p14:sldIdLst>
        </p14:section>
        <p14:section name="Gaming with the GPU" id="{5A36325C-9B22-4789-BE5A-31B3713B81E1}">
          <p14:sldIdLst>
            <p14:sldId id="303"/>
            <p14:sldId id="314"/>
          </p14:sldIdLst>
        </p14:section>
        <p14:section name="Windows IoT Core" id="{C28884F7-DFF8-419D-A72E-5EAF45E21A6B}">
          <p14:sldIdLst/>
        </p14:section>
        <p14:section name="Future directions" id="{7DAF9AB4-78C6-47E5-AF8A-49644B5E301A}">
          <p14:sldIdLst>
            <p14:sldId id="283"/>
            <p14:sldId id="28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3606" autoAdjust="0"/>
  </p:normalViewPr>
  <p:slideViewPr>
    <p:cSldViewPr>
      <p:cViewPr>
        <p:scale>
          <a:sx n="80" d="100"/>
          <a:sy n="80" d="100"/>
        </p:scale>
        <p:origin x="-1522" y="-5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110"/>
    </p:cViewPr>
  </p:sorter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E0FD8C-87A8-462A-94B1-105010A6CAFF}" type="doc">
      <dgm:prSet loTypeId="urn:microsoft.com/office/officeart/2005/8/layout/list1" loCatId="list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819108-3FFC-4A81-ADEF-2EC03DE1DDB3}">
      <dgm:prSet custT="1"/>
      <dgm:spPr/>
      <dgm:t>
        <a:bodyPr/>
        <a:lstStyle/>
        <a:p>
          <a:pPr algn="l" rtl="0"/>
          <a:r>
            <a:rPr lang="en-US" sz="4000" b="0" dirty="0" smtClean="0"/>
            <a:t>A revolutionary </a:t>
          </a:r>
          <a:r>
            <a:rPr lang="en-US" sz="4000" b="0" dirty="0" err="1" smtClean="0"/>
            <a:t>IoT</a:t>
          </a:r>
          <a:r>
            <a:rPr lang="en-US" sz="4000" b="0" dirty="0" smtClean="0"/>
            <a:t> Platform</a:t>
          </a:r>
          <a:endParaRPr lang="en-US" sz="4000" b="0" dirty="0"/>
        </a:p>
      </dgm:t>
    </dgm:pt>
    <dgm:pt modelId="{3A62127A-1C91-4705-857C-15D1114BC0E5}" type="parTrans" cxnId="{26B217FD-D83E-41CA-9063-CD53CCF0C52D}">
      <dgm:prSet/>
      <dgm:spPr/>
      <dgm:t>
        <a:bodyPr/>
        <a:lstStyle/>
        <a:p>
          <a:endParaRPr lang="en-US"/>
        </a:p>
      </dgm:t>
    </dgm:pt>
    <dgm:pt modelId="{BDFBEC04-8832-499F-9F0D-8DB1DBB9C732}" type="sibTrans" cxnId="{26B217FD-D83E-41CA-9063-CD53CCF0C52D}">
      <dgm:prSet/>
      <dgm:spPr/>
      <dgm:t>
        <a:bodyPr/>
        <a:lstStyle/>
        <a:p>
          <a:endParaRPr lang="en-US"/>
        </a:p>
      </dgm:t>
    </dgm:pt>
    <dgm:pt modelId="{CDDE249C-6D19-4B2F-ADB9-5616448FDC81}">
      <dgm:prSet custT="1"/>
      <dgm:spPr/>
      <dgm:t>
        <a:bodyPr/>
        <a:lstStyle/>
        <a:p>
          <a:pPr rtl="0"/>
          <a:r>
            <a:rPr lang="en-US" sz="4800" b="0" dirty="0" smtClean="0"/>
            <a:t>The Raspberry Pi 3</a:t>
          </a:r>
          <a:endParaRPr lang="en-US" sz="4800" b="0" dirty="0"/>
        </a:p>
      </dgm:t>
    </dgm:pt>
    <dgm:pt modelId="{DAD6952A-FF1B-4DCD-B052-8E04AC48FFAD}" type="parTrans" cxnId="{8B69BD00-9697-4CA0-A13D-869E2CC8E16E}">
      <dgm:prSet/>
      <dgm:spPr/>
      <dgm:t>
        <a:bodyPr/>
        <a:lstStyle/>
        <a:p>
          <a:endParaRPr lang="en-US"/>
        </a:p>
      </dgm:t>
    </dgm:pt>
    <dgm:pt modelId="{81DAEDD7-97F4-46FE-8A9E-F574FE030A08}" type="sibTrans" cxnId="{8B69BD00-9697-4CA0-A13D-869E2CC8E16E}">
      <dgm:prSet/>
      <dgm:spPr/>
      <dgm:t>
        <a:bodyPr/>
        <a:lstStyle/>
        <a:p>
          <a:endParaRPr lang="en-US"/>
        </a:p>
      </dgm:t>
    </dgm:pt>
    <dgm:pt modelId="{E3F610CB-FA0C-4386-9D7E-464197CBF400}">
      <dgm:prSet custT="1"/>
      <dgm:spPr/>
      <dgm:t>
        <a:bodyPr/>
        <a:lstStyle/>
        <a:p>
          <a:pPr rtl="0"/>
          <a:r>
            <a:rPr lang="en-US" sz="3200" b="0" dirty="0" smtClean="0"/>
            <a:t>Introductory course</a:t>
          </a:r>
          <a:endParaRPr lang="en-US" sz="3200" b="0" dirty="0"/>
        </a:p>
      </dgm:t>
    </dgm:pt>
    <dgm:pt modelId="{4E79DFC4-9B26-459E-8A2A-7BE68D62DF84}" type="parTrans" cxnId="{F6E3A754-91CE-4A2E-B4D4-3DF039FADA25}">
      <dgm:prSet/>
      <dgm:spPr/>
      <dgm:t>
        <a:bodyPr/>
        <a:lstStyle/>
        <a:p>
          <a:endParaRPr lang="en-US"/>
        </a:p>
      </dgm:t>
    </dgm:pt>
    <dgm:pt modelId="{5A0186A0-A2E2-4747-B0B6-CEE707E2F27A}" type="sibTrans" cxnId="{F6E3A754-91CE-4A2E-B4D4-3DF039FADA25}">
      <dgm:prSet/>
      <dgm:spPr/>
      <dgm:t>
        <a:bodyPr/>
        <a:lstStyle/>
        <a:p>
          <a:endParaRPr lang="en-US"/>
        </a:p>
      </dgm:t>
    </dgm:pt>
    <dgm:pt modelId="{25AF3C83-0B18-4CA4-B506-DA2B84EEB017}" type="pres">
      <dgm:prSet presAssocID="{FFE0FD8C-87A8-462A-94B1-105010A6CAF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D043CE0-395B-4482-8892-C36BAAF5B826}" type="pres">
      <dgm:prSet presAssocID="{E3F610CB-FA0C-4386-9D7E-464197CBF400}" presName="parentLin" presStyleCnt="0"/>
      <dgm:spPr/>
    </dgm:pt>
    <dgm:pt modelId="{F7747C5C-9DF1-4503-BC1A-5B5E3D59430A}" type="pres">
      <dgm:prSet presAssocID="{E3F610CB-FA0C-4386-9D7E-464197CBF400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DFB7DC90-26E4-4A1B-88AD-01CF8EBD17C1}" type="pres">
      <dgm:prSet presAssocID="{E3F610CB-FA0C-4386-9D7E-464197CBF400}" presName="parentText" presStyleLbl="node1" presStyleIdx="0" presStyleCnt="2" custLinFactNeighborY="-414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9359F6-EAA0-4F63-BDA7-A25923E1B1C1}" type="pres">
      <dgm:prSet presAssocID="{E3F610CB-FA0C-4386-9D7E-464197CBF400}" presName="negativeSpace" presStyleCnt="0"/>
      <dgm:spPr/>
    </dgm:pt>
    <dgm:pt modelId="{63DA0967-84AF-4289-90B2-0681B30DD858}" type="pres">
      <dgm:prSet presAssocID="{E3F610CB-FA0C-4386-9D7E-464197CBF400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0C7A36-73B4-4C07-B634-78BF664DF7DB}" type="pres">
      <dgm:prSet presAssocID="{5A0186A0-A2E2-4747-B0B6-CEE707E2F27A}" presName="spaceBetweenRectangles" presStyleCnt="0"/>
      <dgm:spPr/>
    </dgm:pt>
    <dgm:pt modelId="{DFACB3CB-5ABD-4590-A974-CEC7E1FFD34C}" type="pres">
      <dgm:prSet presAssocID="{CDDE249C-6D19-4B2F-ADB9-5616448FDC81}" presName="parentLin" presStyleCnt="0"/>
      <dgm:spPr/>
    </dgm:pt>
    <dgm:pt modelId="{E11ED053-364B-4E68-999E-9D3C791997EF}" type="pres">
      <dgm:prSet presAssocID="{CDDE249C-6D19-4B2F-ADB9-5616448FDC81}" presName="parentLeftMargin" presStyleLbl="node1" presStyleIdx="0" presStyleCnt="2"/>
      <dgm:spPr/>
      <dgm:t>
        <a:bodyPr/>
        <a:lstStyle/>
        <a:p>
          <a:endParaRPr lang="en-US"/>
        </a:p>
      </dgm:t>
    </dgm:pt>
    <dgm:pt modelId="{F1F08CAB-A0F5-45E7-A2D8-DD581FA31F06}" type="pres">
      <dgm:prSet presAssocID="{CDDE249C-6D19-4B2F-ADB9-5616448FDC81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9067A8-2AC3-4DBA-AA8B-066C9552A2C1}" type="pres">
      <dgm:prSet presAssocID="{CDDE249C-6D19-4B2F-ADB9-5616448FDC81}" presName="negativeSpace" presStyleCnt="0"/>
      <dgm:spPr/>
    </dgm:pt>
    <dgm:pt modelId="{C5A4B4B6-0C50-49A6-BCF0-C5779ADCDE5F}" type="pres">
      <dgm:prSet presAssocID="{CDDE249C-6D19-4B2F-ADB9-5616448FDC81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84A320A-EB69-4399-8CAA-6EC99E3B308B}" type="presOf" srcId="{35819108-3FFC-4A81-ADEF-2EC03DE1DDB3}" destId="{C5A4B4B6-0C50-49A6-BCF0-C5779ADCDE5F}" srcOrd="0" destOrd="0" presId="urn:microsoft.com/office/officeart/2005/8/layout/list1"/>
    <dgm:cxn modelId="{02428A2E-3C27-40C1-945E-439897210E97}" type="presOf" srcId="{E3F610CB-FA0C-4386-9D7E-464197CBF400}" destId="{DFB7DC90-26E4-4A1B-88AD-01CF8EBD17C1}" srcOrd="1" destOrd="0" presId="urn:microsoft.com/office/officeart/2005/8/layout/list1"/>
    <dgm:cxn modelId="{A7550702-AA2C-4E4C-BBD2-F61C57DC0756}" type="presOf" srcId="{E3F610CB-FA0C-4386-9D7E-464197CBF400}" destId="{F7747C5C-9DF1-4503-BC1A-5B5E3D59430A}" srcOrd="0" destOrd="0" presId="urn:microsoft.com/office/officeart/2005/8/layout/list1"/>
    <dgm:cxn modelId="{DFFEA2A2-6E71-4EDC-AB5F-CC5BA36F30E1}" type="presOf" srcId="{CDDE249C-6D19-4B2F-ADB9-5616448FDC81}" destId="{F1F08CAB-A0F5-45E7-A2D8-DD581FA31F06}" srcOrd="1" destOrd="0" presId="urn:microsoft.com/office/officeart/2005/8/layout/list1"/>
    <dgm:cxn modelId="{26B217FD-D83E-41CA-9063-CD53CCF0C52D}" srcId="{CDDE249C-6D19-4B2F-ADB9-5616448FDC81}" destId="{35819108-3FFC-4A81-ADEF-2EC03DE1DDB3}" srcOrd="0" destOrd="0" parTransId="{3A62127A-1C91-4705-857C-15D1114BC0E5}" sibTransId="{BDFBEC04-8832-499F-9F0D-8DB1DBB9C732}"/>
    <dgm:cxn modelId="{F6E3A754-91CE-4A2E-B4D4-3DF039FADA25}" srcId="{FFE0FD8C-87A8-462A-94B1-105010A6CAFF}" destId="{E3F610CB-FA0C-4386-9D7E-464197CBF400}" srcOrd="0" destOrd="0" parTransId="{4E79DFC4-9B26-459E-8A2A-7BE68D62DF84}" sibTransId="{5A0186A0-A2E2-4747-B0B6-CEE707E2F27A}"/>
    <dgm:cxn modelId="{69B40E25-7AD3-4942-829E-E9A30C1635FF}" type="presOf" srcId="{FFE0FD8C-87A8-462A-94B1-105010A6CAFF}" destId="{25AF3C83-0B18-4CA4-B506-DA2B84EEB017}" srcOrd="0" destOrd="0" presId="urn:microsoft.com/office/officeart/2005/8/layout/list1"/>
    <dgm:cxn modelId="{2F3984A6-40EB-4C25-9EB6-7DAD4C5A1397}" type="presOf" srcId="{CDDE249C-6D19-4B2F-ADB9-5616448FDC81}" destId="{E11ED053-364B-4E68-999E-9D3C791997EF}" srcOrd="0" destOrd="0" presId="urn:microsoft.com/office/officeart/2005/8/layout/list1"/>
    <dgm:cxn modelId="{8B69BD00-9697-4CA0-A13D-869E2CC8E16E}" srcId="{FFE0FD8C-87A8-462A-94B1-105010A6CAFF}" destId="{CDDE249C-6D19-4B2F-ADB9-5616448FDC81}" srcOrd="1" destOrd="0" parTransId="{DAD6952A-FF1B-4DCD-B052-8E04AC48FFAD}" sibTransId="{81DAEDD7-97F4-46FE-8A9E-F574FE030A08}"/>
    <dgm:cxn modelId="{1886C7F7-297E-4FC5-9EAE-0B8A55D810E4}" type="presParOf" srcId="{25AF3C83-0B18-4CA4-B506-DA2B84EEB017}" destId="{6D043CE0-395B-4482-8892-C36BAAF5B826}" srcOrd="0" destOrd="0" presId="urn:microsoft.com/office/officeart/2005/8/layout/list1"/>
    <dgm:cxn modelId="{1340AE4A-DDF7-4ADF-8AE7-21CADEB4917C}" type="presParOf" srcId="{6D043CE0-395B-4482-8892-C36BAAF5B826}" destId="{F7747C5C-9DF1-4503-BC1A-5B5E3D59430A}" srcOrd="0" destOrd="0" presId="urn:microsoft.com/office/officeart/2005/8/layout/list1"/>
    <dgm:cxn modelId="{B490F89E-DDBF-4718-8611-D2950CD6E58D}" type="presParOf" srcId="{6D043CE0-395B-4482-8892-C36BAAF5B826}" destId="{DFB7DC90-26E4-4A1B-88AD-01CF8EBD17C1}" srcOrd="1" destOrd="0" presId="urn:microsoft.com/office/officeart/2005/8/layout/list1"/>
    <dgm:cxn modelId="{8147C71A-7C28-4020-A76A-083ECC01C4F1}" type="presParOf" srcId="{25AF3C83-0B18-4CA4-B506-DA2B84EEB017}" destId="{B49359F6-EAA0-4F63-BDA7-A25923E1B1C1}" srcOrd="1" destOrd="0" presId="urn:microsoft.com/office/officeart/2005/8/layout/list1"/>
    <dgm:cxn modelId="{BCD98C68-87A3-4C3D-A418-0692F45A4A50}" type="presParOf" srcId="{25AF3C83-0B18-4CA4-B506-DA2B84EEB017}" destId="{63DA0967-84AF-4289-90B2-0681B30DD858}" srcOrd="2" destOrd="0" presId="urn:microsoft.com/office/officeart/2005/8/layout/list1"/>
    <dgm:cxn modelId="{C80ED371-6F69-41AD-9545-88CAE8B473A0}" type="presParOf" srcId="{25AF3C83-0B18-4CA4-B506-DA2B84EEB017}" destId="{490C7A36-73B4-4C07-B634-78BF664DF7DB}" srcOrd="3" destOrd="0" presId="urn:microsoft.com/office/officeart/2005/8/layout/list1"/>
    <dgm:cxn modelId="{3F5C1A23-103A-4CCA-9E18-D2C1E5A36F90}" type="presParOf" srcId="{25AF3C83-0B18-4CA4-B506-DA2B84EEB017}" destId="{DFACB3CB-5ABD-4590-A974-CEC7E1FFD34C}" srcOrd="4" destOrd="0" presId="urn:microsoft.com/office/officeart/2005/8/layout/list1"/>
    <dgm:cxn modelId="{F36246E7-9940-4A19-819A-90B18AB99995}" type="presParOf" srcId="{DFACB3CB-5ABD-4590-A974-CEC7E1FFD34C}" destId="{E11ED053-364B-4E68-999E-9D3C791997EF}" srcOrd="0" destOrd="0" presId="urn:microsoft.com/office/officeart/2005/8/layout/list1"/>
    <dgm:cxn modelId="{93239CA6-8778-4B44-9CF7-5B51CDC3A1E7}" type="presParOf" srcId="{DFACB3CB-5ABD-4590-A974-CEC7E1FFD34C}" destId="{F1F08CAB-A0F5-45E7-A2D8-DD581FA31F06}" srcOrd="1" destOrd="0" presId="urn:microsoft.com/office/officeart/2005/8/layout/list1"/>
    <dgm:cxn modelId="{A91D3AF3-7E5D-480B-BB60-3730CD27449A}" type="presParOf" srcId="{25AF3C83-0B18-4CA4-B506-DA2B84EEB017}" destId="{DA9067A8-2AC3-4DBA-AA8B-066C9552A2C1}" srcOrd="5" destOrd="0" presId="urn:microsoft.com/office/officeart/2005/8/layout/list1"/>
    <dgm:cxn modelId="{8AA5B92E-8207-4C90-ABF9-3BE4AEFF4325}" type="presParOf" srcId="{25AF3C83-0B18-4CA4-B506-DA2B84EEB017}" destId="{C5A4B4B6-0C50-49A6-BCF0-C5779ADCDE5F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A0967-84AF-4289-90B2-0681B30DD858}">
      <dsp:nvSpPr>
        <dsp:cNvPr id="0" name=""/>
        <dsp:cNvSpPr/>
      </dsp:nvSpPr>
      <dsp:spPr>
        <a:xfrm>
          <a:off x="0" y="736351"/>
          <a:ext cx="7851648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7DC90-26E4-4A1B-88AD-01CF8EBD17C1}">
      <dsp:nvSpPr>
        <dsp:cNvPr id="0" name=""/>
        <dsp:cNvSpPr/>
      </dsp:nvSpPr>
      <dsp:spPr>
        <a:xfrm>
          <a:off x="392582" y="0"/>
          <a:ext cx="5496153" cy="1416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742" tIns="0" rIns="207742" bIns="0" numCol="1" spcCol="1270" anchor="ctr" anchorCtr="0">
          <a:noAutofit/>
          <a:sp3d extrusionH="28000" prstMaterial="matte"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0" kern="1200" dirty="0" smtClean="0"/>
            <a:t>Introductory course</a:t>
          </a:r>
          <a:endParaRPr lang="en-US" sz="3200" b="0" kern="1200" dirty="0"/>
        </a:p>
      </dsp:txBody>
      <dsp:txXfrm>
        <a:off x="461752" y="69170"/>
        <a:ext cx="5357813" cy="1278620"/>
      </dsp:txXfrm>
    </dsp:sp>
    <dsp:sp modelId="{C5A4B4B6-0C50-49A6-BCF0-C5779ADCDE5F}">
      <dsp:nvSpPr>
        <dsp:cNvPr id="0" name=""/>
        <dsp:cNvSpPr/>
      </dsp:nvSpPr>
      <dsp:spPr>
        <a:xfrm>
          <a:off x="0" y="2913632"/>
          <a:ext cx="7851648" cy="1852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22735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375" tIns="999744" rIns="609375" bIns="284480" numCol="1" spcCol="1270" anchor="t" anchorCtr="0">
          <a:noAutofit/>
        </a:bodyPr>
        <a:lstStyle/>
        <a:p>
          <a:pPr marL="285750" lvl="1" indent="-285750" algn="l" defTabSz="1778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000" b="0" kern="1200" dirty="0" smtClean="0"/>
            <a:t>A revolutionary </a:t>
          </a:r>
          <a:r>
            <a:rPr lang="en-US" sz="4000" b="0" kern="1200" dirty="0" err="1" smtClean="0"/>
            <a:t>IoT</a:t>
          </a:r>
          <a:r>
            <a:rPr lang="en-US" sz="4000" b="0" kern="1200" dirty="0" smtClean="0"/>
            <a:t> Platform</a:t>
          </a:r>
          <a:endParaRPr lang="en-US" sz="4000" b="0" kern="1200" dirty="0"/>
        </a:p>
      </dsp:txBody>
      <dsp:txXfrm>
        <a:off x="0" y="2913632"/>
        <a:ext cx="7851648" cy="1852200"/>
      </dsp:txXfrm>
    </dsp:sp>
    <dsp:sp modelId="{F1F08CAB-A0F5-45E7-A2D8-DD581FA31F06}">
      <dsp:nvSpPr>
        <dsp:cNvPr id="0" name=""/>
        <dsp:cNvSpPr/>
      </dsp:nvSpPr>
      <dsp:spPr>
        <a:xfrm>
          <a:off x="392582" y="2205152"/>
          <a:ext cx="5496153" cy="1416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alpha val="48000"/>
              <a:satMod val="105000"/>
            </a:scheme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7742" tIns="0" rIns="207742" bIns="0" numCol="1" spcCol="1270" anchor="ctr" anchorCtr="0">
          <a:noAutofit/>
          <a:sp3d extrusionH="28000" prstMaterial="matte"/>
        </a:bodyPr>
        <a:lstStyle/>
        <a:p>
          <a:pPr lvl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b="0" kern="1200" dirty="0" smtClean="0"/>
            <a:t>The Raspberry Pi 3</a:t>
          </a:r>
          <a:endParaRPr lang="en-US" sz="4800" b="0" kern="1200" dirty="0"/>
        </a:p>
      </dsp:txBody>
      <dsp:txXfrm>
        <a:off x="461752" y="2274322"/>
        <a:ext cx="5357813" cy="1278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0CA65A-E178-4765-83FD-215AE9500691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E8C59-386B-4C88-B5D4-DF526A62DB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2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EE8C59-386B-4C88-B5D4-DF526A62DB1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57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" y="6242325"/>
            <a:ext cx="1606493" cy="6425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" y="6242325"/>
            <a:ext cx="1606493" cy="6425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" y="6242325"/>
            <a:ext cx="1606493" cy="6425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" y="6242325"/>
            <a:ext cx="1606493" cy="6425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E9B366D-A093-45F0-AF49-84A5BABACCDA}" type="datetimeFigureOut">
              <a:rPr lang="en-US" smtClean="0"/>
              <a:pPr/>
              <a:t>4/6/2017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6378C47-23AC-4022-9D52-93F47A16591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844" y="620688"/>
            <a:ext cx="691652" cy="8346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spberrypi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dcard.org/downloads/formatter_4/eula_windows/SDFormatterv4.zip" TargetMode="External"/><Relationship Id="rId2" Type="http://schemas.openxmlformats.org/officeDocument/2006/relationships/hyperlink" Target="http://www.raspberrypi.org/download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kodi.wiki/view/Raspberry_Pi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xterInd/GrovePi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abyz.co.uk/rpi/pigpio/piscope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nccastaff.bournemouth.ac.uk/jmacey/GraphicsLib/piNGL/index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opbox.com/s/6ruqgv1h65zufr6/motion-mmal-lowflyerUK-20151114.tar.gz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bserver.com/downloads/games/doom/misc/shareware/doom1.wad.zip" TargetMode="External"/><Relationship Id="rId2" Type="http://schemas.openxmlformats.org/officeDocument/2006/relationships/hyperlink" Target="http://www.chocolate-doom.org/downloads/2.2.0/chocolate-doom-2.2.0.tar.gz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882901843"/>
              </p:ext>
            </p:extLst>
          </p:nvPr>
        </p:nvGraphicFramePr>
        <p:xfrm>
          <a:off x="533400" y="1371600"/>
          <a:ext cx="7851648" cy="4793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844" y="620688"/>
            <a:ext cx="691652" cy="83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5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 3 – About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Single Board Computer (SBC)</a:t>
            </a:r>
          </a:p>
          <a:p>
            <a:pPr lvl="1"/>
            <a:r>
              <a:rPr lang="en-US" dirty="0" smtClean="0"/>
              <a:t>Fully functional networked computer</a:t>
            </a:r>
          </a:p>
          <a:p>
            <a:pPr lvl="1"/>
            <a:r>
              <a:rPr lang="en-US" dirty="0" smtClean="0"/>
              <a:t>Just needs a display, keyboard, mouse</a:t>
            </a:r>
          </a:p>
          <a:p>
            <a:r>
              <a:rPr lang="en-US" dirty="0" smtClean="0"/>
              <a:t>Developed by the Raspberry Pi Foundation, UK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rimarily as an educational tool</a:t>
            </a:r>
          </a:p>
          <a:p>
            <a:pPr lvl="1"/>
            <a:r>
              <a:rPr lang="en-US" dirty="0" smtClean="0">
                <a:hlinkClick r:id="rId2"/>
              </a:rPr>
              <a:t>www.raspberrypi.org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8680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3 –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Goals of the Raspberry Pi project</a:t>
            </a:r>
            <a:endParaRPr lang="en-US" dirty="0"/>
          </a:p>
          <a:p>
            <a:pPr lvl="1"/>
            <a:r>
              <a:rPr lang="en-US" dirty="0"/>
              <a:t>Children</a:t>
            </a:r>
          </a:p>
          <a:p>
            <a:pPr lvl="2"/>
            <a:r>
              <a:rPr lang="en-US" dirty="0"/>
              <a:t>P</a:t>
            </a:r>
            <a:r>
              <a:rPr lang="en-US" dirty="0" smtClean="0"/>
              <a:t>romote </a:t>
            </a:r>
            <a:r>
              <a:rPr lang="en-US" dirty="0"/>
              <a:t>computer usage, </a:t>
            </a:r>
            <a:r>
              <a:rPr lang="en-US" dirty="0" smtClean="0"/>
              <a:t>make programming “joyful”</a:t>
            </a:r>
            <a:endParaRPr lang="en-US" dirty="0"/>
          </a:p>
          <a:p>
            <a:pPr lvl="1"/>
            <a:r>
              <a:rPr lang="en-US" dirty="0"/>
              <a:t>Students</a:t>
            </a:r>
          </a:p>
          <a:p>
            <a:pPr lvl="2"/>
            <a:r>
              <a:rPr lang="en-US" dirty="0"/>
              <a:t>A platform for school and college projects</a:t>
            </a:r>
          </a:p>
          <a:p>
            <a:pPr lvl="1"/>
            <a:r>
              <a:rPr lang="en-US" dirty="0"/>
              <a:t>Hobbyists</a:t>
            </a:r>
          </a:p>
          <a:p>
            <a:pPr lvl="2"/>
            <a:r>
              <a:rPr lang="en-US" dirty="0"/>
              <a:t>A ready framework for hobby projects, learning</a:t>
            </a:r>
          </a:p>
          <a:p>
            <a:pPr lvl="1"/>
            <a:r>
              <a:rPr lang="en-US" dirty="0"/>
              <a:t>SMEs: </a:t>
            </a:r>
          </a:p>
          <a:p>
            <a:pPr lvl="2"/>
            <a:r>
              <a:rPr lang="en-US" dirty="0"/>
              <a:t>A starting point for embedded project/product development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05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– Response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Very well-received by the community at large</a:t>
            </a:r>
          </a:p>
          <a:p>
            <a:pPr lvl="1"/>
            <a:r>
              <a:rPr lang="en-US" dirty="0"/>
              <a:t>Sales touched 2 million units by mid-Nov 2013</a:t>
            </a:r>
          </a:p>
          <a:p>
            <a:r>
              <a:rPr lang="en-US" dirty="0" smtClean="0"/>
              <a:t>Many UK, US, EU universities recommend </a:t>
            </a:r>
            <a:r>
              <a:rPr lang="en-US" dirty="0" err="1" smtClean="0"/>
              <a:t>Raspi</a:t>
            </a:r>
            <a:r>
              <a:rPr lang="en-US" dirty="0" smtClean="0"/>
              <a:t> as a default project platform</a:t>
            </a:r>
          </a:p>
          <a:p>
            <a:r>
              <a:rPr lang="en-US" dirty="0" smtClean="0"/>
              <a:t>Awards:</a:t>
            </a:r>
          </a:p>
          <a:p>
            <a:pPr lvl="1"/>
            <a:r>
              <a:rPr lang="en-US" dirty="0" err="1" smtClean="0"/>
              <a:t>Nominet</a:t>
            </a:r>
            <a:r>
              <a:rPr lang="en-US" dirty="0" smtClean="0"/>
              <a:t> Outstanding Contribution to the Internet </a:t>
            </a:r>
          </a:p>
          <a:p>
            <a:pPr lvl="2"/>
            <a:r>
              <a:rPr lang="en-US" dirty="0" smtClean="0"/>
              <a:t>July 2012</a:t>
            </a:r>
          </a:p>
          <a:p>
            <a:pPr lvl="1"/>
            <a:r>
              <a:rPr lang="en-US" dirty="0" smtClean="0"/>
              <a:t> T3’s Innovation of the Year Award </a:t>
            </a:r>
          </a:p>
          <a:p>
            <a:pPr lvl="2"/>
            <a:r>
              <a:rPr lang="en-US" dirty="0" smtClean="0"/>
              <a:t>Oct 2012</a:t>
            </a:r>
          </a:p>
          <a:p>
            <a:pPr lvl="1"/>
            <a:r>
              <a:rPr lang="en-US" dirty="0" smtClean="0"/>
              <a:t>Index:2013 PLAY (Design) Award </a:t>
            </a:r>
          </a:p>
          <a:p>
            <a:pPr lvl="2"/>
            <a:r>
              <a:rPr lang="en-US" dirty="0" smtClean="0"/>
              <a:t>Aug 2013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38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– Projects!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Full blown Media Centre</a:t>
            </a:r>
          </a:p>
          <a:p>
            <a:pPr lvl="1"/>
            <a:r>
              <a:rPr lang="en-US" dirty="0"/>
              <a:t>Air Quality Monitor </a:t>
            </a:r>
          </a:p>
          <a:p>
            <a:pPr lvl="1"/>
            <a:r>
              <a:rPr lang="en-US" dirty="0" err="1"/>
              <a:t>EyeTracking</a:t>
            </a:r>
            <a:endParaRPr lang="en-US" dirty="0"/>
          </a:p>
          <a:p>
            <a:pPr lvl="1"/>
            <a:r>
              <a:rPr lang="en-US" dirty="0"/>
              <a:t>Private Cell Phone Network Base Station</a:t>
            </a:r>
          </a:p>
          <a:p>
            <a:pPr lvl="1"/>
            <a:r>
              <a:rPr lang="en-US" dirty="0"/>
              <a:t>Maneuverable robot controller</a:t>
            </a:r>
          </a:p>
          <a:p>
            <a:pPr lvl="1"/>
            <a:r>
              <a:rPr lang="en-US" dirty="0"/>
              <a:t>Flying high into space and sending sky-high </a:t>
            </a:r>
            <a:r>
              <a:rPr lang="en-US" dirty="0" smtClean="0"/>
              <a:t>images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High-end Gaming Console</a:t>
            </a:r>
          </a:p>
          <a:p>
            <a:pPr lvl="1"/>
            <a:r>
              <a:rPr lang="en-US" dirty="0" err="1"/>
              <a:t>BerryTerminal</a:t>
            </a:r>
            <a:r>
              <a:rPr lang="en-US" dirty="0"/>
              <a:t> (Thin Client)</a:t>
            </a:r>
          </a:p>
          <a:p>
            <a:pPr lvl="1"/>
            <a:r>
              <a:rPr lang="en-US" dirty="0"/>
              <a:t>Home Automation, Monitoring</a:t>
            </a:r>
          </a:p>
          <a:p>
            <a:pPr lvl="1"/>
            <a:r>
              <a:rPr lang="en-US" dirty="0"/>
              <a:t>Video Streaming Server</a:t>
            </a:r>
          </a:p>
          <a:p>
            <a:pPr lvl="1"/>
            <a:r>
              <a:rPr lang="en-US" dirty="0"/>
              <a:t>Digital Signage Controller</a:t>
            </a:r>
          </a:p>
          <a:p>
            <a:pPr lvl="1"/>
            <a:r>
              <a:rPr lang="en-US" dirty="0"/>
              <a:t>Data Centre / Cluster </a:t>
            </a:r>
            <a:r>
              <a:rPr lang="en-US" dirty="0" smtClean="0"/>
              <a:t>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16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 3 – A hand-held SBC!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99" y="1935163"/>
            <a:ext cx="7797602" cy="4389437"/>
          </a:xfrm>
        </p:spPr>
      </p:pic>
    </p:spTree>
    <p:extLst>
      <p:ext uri="{BB962C8B-B14F-4D97-AF65-F5344CB8AC3E}">
        <p14:creationId xmlns:p14="http://schemas.microsoft.com/office/powerpoint/2010/main" val="265925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 3 – Interfaces (board view)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380" y="2206072"/>
            <a:ext cx="6095239" cy="3847619"/>
          </a:xfrm>
        </p:spPr>
      </p:pic>
    </p:spTree>
    <p:extLst>
      <p:ext uri="{BB962C8B-B14F-4D97-AF65-F5344CB8AC3E}">
        <p14:creationId xmlns:p14="http://schemas.microsoft.com/office/powerpoint/2010/main" val="307353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3 – Fully hooked up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008981"/>
            <a:ext cx="6858000" cy="4241800"/>
          </a:xfrm>
        </p:spPr>
      </p:pic>
    </p:spTree>
    <p:extLst>
      <p:ext uri="{BB962C8B-B14F-4D97-AF65-F5344CB8AC3E}">
        <p14:creationId xmlns:p14="http://schemas.microsoft.com/office/powerpoint/2010/main" val="419067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smtClean="0"/>
              <a:t> 3 – </a:t>
            </a:r>
            <a:r>
              <a:rPr lang="en-US" dirty="0" smtClean="0"/>
              <a:t>Hardware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u="sng" dirty="0" err="1" smtClean="0"/>
              <a:t>SoC</a:t>
            </a:r>
            <a:r>
              <a:rPr lang="en-US" u="sng" dirty="0" smtClean="0"/>
              <a:t> (</a:t>
            </a:r>
            <a:r>
              <a:rPr lang="en-US" u="sng" dirty="0" err="1" smtClean="0"/>
              <a:t>BroadCom</a:t>
            </a:r>
            <a:r>
              <a:rPr lang="en-US" u="sng" dirty="0" smtClean="0"/>
              <a:t> BCM2837)</a:t>
            </a:r>
            <a:endParaRPr lang="en-US" u="sng" dirty="0"/>
          </a:p>
          <a:p>
            <a:r>
              <a:rPr lang="en-US" dirty="0"/>
              <a:t>CPU</a:t>
            </a:r>
          </a:p>
          <a:p>
            <a:pPr lvl="1"/>
            <a:r>
              <a:rPr lang="pt-BR" dirty="0" smtClean="0"/>
              <a:t>Quad-core </a:t>
            </a:r>
            <a:r>
              <a:rPr lang="pt-BR" dirty="0"/>
              <a:t>ARM </a:t>
            </a:r>
            <a:r>
              <a:rPr lang="pt-BR" dirty="0" smtClean="0"/>
              <a:t>Cortex A53  </a:t>
            </a:r>
          </a:p>
          <a:p>
            <a:pPr lvl="2"/>
            <a:r>
              <a:rPr lang="pt-BR" smtClean="0"/>
              <a:t>Each core </a:t>
            </a:r>
            <a:r>
              <a:rPr lang="en-US" smtClean="0"/>
              <a:t>@ </a:t>
            </a:r>
            <a:r>
              <a:rPr lang="en-US" dirty="0" smtClean="0"/>
              <a:t>1.2 </a:t>
            </a:r>
            <a:r>
              <a:rPr lang="en-US" dirty="0"/>
              <a:t>G</a:t>
            </a:r>
            <a:r>
              <a:rPr lang="en-US" dirty="0" smtClean="0"/>
              <a:t>Hz</a:t>
            </a:r>
            <a:endParaRPr lang="en-US" dirty="0"/>
          </a:p>
          <a:p>
            <a:r>
              <a:rPr lang="en-US" dirty="0" smtClean="0"/>
              <a:t>VPU/GPU</a:t>
            </a:r>
          </a:p>
          <a:p>
            <a:pPr lvl="1"/>
            <a:r>
              <a:rPr lang="en-US" dirty="0" err="1" smtClean="0"/>
              <a:t>VideoCore</a:t>
            </a:r>
            <a:r>
              <a:rPr lang="en-US" dirty="0" smtClean="0"/>
              <a:t> </a:t>
            </a:r>
            <a:r>
              <a:rPr lang="en-US" dirty="0"/>
              <a:t>IV @ </a:t>
            </a:r>
            <a:r>
              <a:rPr lang="en-US" dirty="0" smtClean="0"/>
              <a:t>250MHz</a:t>
            </a:r>
          </a:p>
          <a:p>
            <a:pPr lvl="1"/>
            <a:r>
              <a:rPr lang="en-US" dirty="0"/>
              <a:t>H.264 </a:t>
            </a:r>
            <a:r>
              <a:rPr lang="en-US" dirty="0" smtClean="0"/>
              <a:t>1080p30 </a:t>
            </a:r>
            <a:r>
              <a:rPr lang="en-US" dirty="0"/>
              <a:t>(decode + encode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MPEG-2 &amp; VC1 1080p30 (decode)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Graphics Core (2D, 3D)</a:t>
            </a:r>
          </a:p>
          <a:p>
            <a:pPr lvl="2"/>
            <a:r>
              <a:rPr lang="en-US" dirty="0" smtClean="0"/>
              <a:t>OpenGL </a:t>
            </a:r>
            <a:r>
              <a:rPr lang="en-US" dirty="0"/>
              <a:t>ES </a:t>
            </a:r>
            <a:r>
              <a:rPr lang="en-US" dirty="0" smtClean="0"/>
              <a:t>2.0, </a:t>
            </a:r>
            <a:r>
              <a:rPr lang="en-US" dirty="0" err="1" smtClean="0"/>
              <a:t>OpenVG</a:t>
            </a:r>
            <a:endParaRPr lang="en-US" dirty="0"/>
          </a:p>
          <a:p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1 GB </a:t>
            </a:r>
            <a:r>
              <a:rPr lang="en-US" dirty="0"/>
              <a:t>RAM </a:t>
            </a:r>
            <a:r>
              <a:rPr lang="en-US" dirty="0" smtClean="0"/>
              <a:t>(shared with CPU)</a:t>
            </a:r>
          </a:p>
          <a:p>
            <a:pPr marL="0" indent="0">
              <a:buNone/>
            </a:pPr>
            <a:r>
              <a:rPr lang="en-US" u="sng" dirty="0" smtClean="0"/>
              <a:t>Boot medium, storage</a:t>
            </a:r>
            <a:r>
              <a:rPr lang="en-US" u="sng" dirty="0"/>
              <a:t>:</a:t>
            </a:r>
          </a:p>
          <a:p>
            <a:r>
              <a:rPr lang="en-US" dirty="0" err="1" smtClean="0"/>
              <a:t>MicroSD</a:t>
            </a:r>
            <a:r>
              <a:rPr lang="en-US" dirty="0" smtClean="0"/>
              <a:t> Card slot</a:t>
            </a:r>
          </a:p>
          <a:p>
            <a:pPr marL="0" indent="0">
              <a:buNone/>
            </a:pPr>
            <a:r>
              <a:rPr lang="en-US" u="sng" dirty="0"/>
              <a:t>Network</a:t>
            </a:r>
          </a:p>
          <a:p>
            <a:r>
              <a:rPr lang="en-US" dirty="0"/>
              <a:t>10/100Mbps </a:t>
            </a:r>
            <a:r>
              <a:rPr lang="en-US" dirty="0" smtClean="0"/>
              <a:t>Ethernet</a:t>
            </a:r>
          </a:p>
          <a:p>
            <a:r>
              <a:rPr lang="en-US" dirty="0" smtClean="0"/>
              <a:t>Inbuilt </a:t>
            </a:r>
            <a:r>
              <a:rPr lang="en-US" dirty="0" err="1" smtClean="0"/>
              <a:t>WiFi</a:t>
            </a:r>
            <a:r>
              <a:rPr lang="en-US" dirty="0" smtClean="0"/>
              <a:t> and Bluetooth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u="sng" dirty="0" smtClean="0"/>
              <a:t>Ports</a:t>
            </a:r>
          </a:p>
          <a:p>
            <a:r>
              <a:rPr lang="en-US" dirty="0" smtClean="0"/>
              <a:t>Input</a:t>
            </a:r>
            <a:endParaRPr lang="en-US" dirty="0"/>
          </a:p>
          <a:p>
            <a:pPr lvl="1"/>
            <a:r>
              <a:rPr lang="en-US" dirty="0"/>
              <a:t>Video: CSI connector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Video: </a:t>
            </a:r>
            <a:endParaRPr lang="en-US" dirty="0" smtClean="0"/>
          </a:p>
          <a:p>
            <a:pPr lvl="2"/>
            <a:r>
              <a:rPr lang="en-US" dirty="0" smtClean="0"/>
              <a:t>Composite RCA</a:t>
            </a:r>
          </a:p>
          <a:p>
            <a:pPr lvl="2"/>
            <a:r>
              <a:rPr lang="en-US" dirty="0" smtClean="0"/>
              <a:t>HDMI</a:t>
            </a:r>
          </a:p>
          <a:p>
            <a:pPr lvl="2"/>
            <a:r>
              <a:rPr lang="en-US" dirty="0" smtClean="0"/>
              <a:t>DSI </a:t>
            </a:r>
            <a:r>
              <a:rPr lang="en-US" dirty="0"/>
              <a:t>(for raw LCD panels)</a:t>
            </a:r>
          </a:p>
          <a:p>
            <a:pPr lvl="1"/>
            <a:r>
              <a:rPr lang="en-US" dirty="0"/>
              <a:t>Audio: </a:t>
            </a:r>
            <a:endParaRPr lang="en-US" dirty="0" smtClean="0"/>
          </a:p>
          <a:p>
            <a:pPr lvl="2"/>
            <a:r>
              <a:rPr lang="en-US" dirty="0" smtClean="0"/>
              <a:t>3.5mm jack</a:t>
            </a:r>
          </a:p>
          <a:p>
            <a:pPr lvl="2"/>
            <a:r>
              <a:rPr lang="en-US" dirty="0" smtClean="0"/>
              <a:t>HDMI</a:t>
            </a:r>
          </a:p>
          <a:p>
            <a:pPr lvl="2"/>
            <a:r>
              <a:rPr lang="en-US" dirty="0" smtClean="0"/>
              <a:t>I</a:t>
            </a:r>
            <a:r>
              <a:rPr lang="en-US" baseline="30000" dirty="0" smtClean="0"/>
              <a:t>2</a:t>
            </a:r>
            <a:r>
              <a:rPr lang="en-US" dirty="0" smtClean="0"/>
              <a:t>S </a:t>
            </a:r>
            <a:r>
              <a:rPr lang="en-US" dirty="0"/>
              <a:t>audio</a:t>
            </a:r>
          </a:p>
          <a:p>
            <a:r>
              <a:rPr lang="en-US" dirty="0" smtClean="0"/>
              <a:t>4 </a:t>
            </a:r>
            <a:r>
              <a:rPr lang="en-US" dirty="0"/>
              <a:t>USB2.0 ports</a:t>
            </a:r>
          </a:p>
          <a:p>
            <a:r>
              <a:rPr lang="en-US" dirty="0"/>
              <a:t>Low-level peripherals:</a:t>
            </a:r>
          </a:p>
          <a:p>
            <a:pPr lvl="1"/>
            <a:r>
              <a:rPr lang="en-US" dirty="0" smtClean="0"/>
              <a:t>GPIO, </a:t>
            </a:r>
            <a:r>
              <a:rPr lang="en-US" dirty="0"/>
              <a:t>UART , I</a:t>
            </a:r>
            <a:r>
              <a:rPr lang="en-US" baseline="30000" dirty="0"/>
              <a:t>2</a:t>
            </a:r>
            <a:r>
              <a:rPr lang="en-US" dirty="0"/>
              <a:t>C, </a:t>
            </a:r>
            <a:r>
              <a:rPr lang="en-US" dirty="0" smtClean="0"/>
              <a:t>SPI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6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– Software (OS)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Bare-metal OS-less images</a:t>
            </a:r>
          </a:p>
          <a:p>
            <a:r>
              <a:rPr lang="en-US" dirty="0" smtClean="0"/>
              <a:t>Full Operating Systems</a:t>
            </a:r>
          </a:p>
          <a:p>
            <a:pPr lvl="1"/>
            <a:r>
              <a:rPr lang="en-US" dirty="0" smtClean="0"/>
              <a:t>Linux kernel based:</a:t>
            </a:r>
          </a:p>
          <a:p>
            <a:pPr lvl="2"/>
            <a:r>
              <a:rPr lang="en-US" dirty="0" err="1" smtClean="0"/>
              <a:t>Debian</a:t>
            </a:r>
            <a:r>
              <a:rPr lang="en-US" dirty="0" smtClean="0"/>
              <a:t> Linux port called </a:t>
            </a:r>
            <a:r>
              <a:rPr lang="en-US" dirty="0" err="1" smtClean="0"/>
              <a:t>Raspbian</a:t>
            </a:r>
            <a:r>
              <a:rPr lang="en-US" dirty="0" smtClean="0"/>
              <a:t> “Jessie”</a:t>
            </a:r>
          </a:p>
          <a:p>
            <a:pPr lvl="2"/>
            <a:r>
              <a:rPr lang="en-US" dirty="0" smtClean="0"/>
              <a:t>OSMC (XBMC-based media </a:t>
            </a:r>
            <a:r>
              <a:rPr lang="en-US" dirty="0" err="1" smtClean="0"/>
              <a:t>centre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Arch Linux ARM</a:t>
            </a:r>
          </a:p>
          <a:p>
            <a:pPr lvl="2"/>
            <a:r>
              <a:rPr lang="en-US" dirty="0" smtClean="0"/>
              <a:t>Fedora</a:t>
            </a:r>
          </a:p>
          <a:p>
            <a:pPr lvl="2"/>
            <a:r>
              <a:rPr lang="en-US" dirty="0" smtClean="0"/>
              <a:t>Ubuntu</a:t>
            </a:r>
          </a:p>
          <a:p>
            <a:pPr lvl="1"/>
            <a:r>
              <a:rPr lang="en-US" dirty="0" smtClean="0"/>
              <a:t>Windows:</a:t>
            </a:r>
          </a:p>
          <a:p>
            <a:pPr lvl="2"/>
            <a:r>
              <a:rPr lang="en-US" dirty="0" smtClean="0"/>
              <a:t>Windows 10 </a:t>
            </a:r>
            <a:r>
              <a:rPr lang="en-US" dirty="0" err="1" smtClean="0"/>
              <a:t>IoT</a:t>
            </a:r>
            <a:r>
              <a:rPr lang="en-US" dirty="0" smtClean="0"/>
              <a:t> Core (introduced by M$)</a:t>
            </a:r>
          </a:p>
          <a:p>
            <a:pPr lvl="1"/>
            <a:r>
              <a:rPr lang="en-US" dirty="0" smtClean="0"/>
              <a:t>RISC OS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10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– Software (Apps)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Fully functional desktop (using PIXEL)</a:t>
            </a:r>
          </a:p>
          <a:p>
            <a:r>
              <a:rPr lang="en-US" dirty="0"/>
              <a:t>C</a:t>
            </a:r>
            <a:r>
              <a:rPr lang="en-US" dirty="0" smtClean="0"/>
              <a:t>hromium Web </a:t>
            </a:r>
            <a:r>
              <a:rPr lang="en-US" dirty="0"/>
              <a:t>B</a:t>
            </a:r>
            <a:r>
              <a:rPr lang="en-US" dirty="0" smtClean="0"/>
              <a:t>rowser</a:t>
            </a:r>
          </a:p>
          <a:p>
            <a:r>
              <a:rPr lang="en-US" dirty="0" smtClean="0"/>
              <a:t>Wolfram </a:t>
            </a:r>
            <a:r>
              <a:rPr lang="en-US" dirty="0" err="1" smtClean="0"/>
              <a:t>Mathematica</a:t>
            </a:r>
            <a:endParaRPr lang="en-US" dirty="0" smtClean="0"/>
          </a:p>
          <a:p>
            <a:r>
              <a:rPr lang="en-US" dirty="0" smtClean="0"/>
              <a:t>Programming language support (default)</a:t>
            </a:r>
          </a:p>
          <a:p>
            <a:pPr lvl="1"/>
            <a:r>
              <a:rPr lang="en-US" dirty="0" smtClean="0"/>
              <a:t>Python</a:t>
            </a:r>
          </a:p>
          <a:p>
            <a:pPr lvl="1"/>
            <a:r>
              <a:rPr lang="en-US" dirty="0" smtClean="0"/>
              <a:t>C</a:t>
            </a:r>
          </a:p>
          <a:p>
            <a:pPr lvl="1"/>
            <a:r>
              <a:rPr lang="en-US" dirty="0" smtClean="0"/>
              <a:t>C++</a:t>
            </a:r>
          </a:p>
          <a:p>
            <a:pPr lvl="1"/>
            <a:r>
              <a:rPr lang="en-US" dirty="0" smtClean="0"/>
              <a:t>Java</a:t>
            </a:r>
          </a:p>
          <a:p>
            <a:pPr lvl="1"/>
            <a:r>
              <a:rPr lang="en-US" dirty="0" smtClean="0"/>
              <a:t>Ruby</a:t>
            </a:r>
          </a:p>
          <a:p>
            <a:pPr lvl="1"/>
            <a:r>
              <a:rPr lang="en-US" dirty="0" smtClean="0"/>
              <a:t>Wolfram</a:t>
            </a:r>
          </a:p>
          <a:p>
            <a:pPr lvl="1"/>
            <a:r>
              <a:rPr lang="en-US" dirty="0" smtClean="0"/>
              <a:t>Scratch</a:t>
            </a:r>
          </a:p>
        </p:txBody>
      </p:sp>
    </p:spTree>
    <p:extLst>
      <p:ext uri="{BB962C8B-B14F-4D97-AF65-F5344CB8AC3E}">
        <p14:creationId xmlns:p14="http://schemas.microsoft.com/office/powerpoint/2010/main" val="54125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 – </a:t>
            </a:r>
            <a:r>
              <a:rPr lang="en-US" dirty="0" err="1" smtClean="0"/>
              <a:t>Bringup</a:t>
            </a:r>
            <a:r>
              <a:rPr lang="en-US" dirty="0" smtClean="0"/>
              <a:t>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We’ll use the </a:t>
            </a:r>
            <a:r>
              <a:rPr lang="en-US" dirty="0" smtClean="0">
                <a:hlinkClick r:id="rId2"/>
              </a:rPr>
              <a:t>NOOBS</a:t>
            </a:r>
            <a:r>
              <a:rPr lang="en-US" dirty="0" smtClean="0"/>
              <a:t> (offline and network install) distribution to bring the </a:t>
            </a:r>
            <a:r>
              <a:rPr lang="en-US" dirty="0" err="1" smtClean="0"/>
              <a:t>Raspi</a:t>
            </a:r>
            <a:r>
              <a:rPr lang="en-US" dirty="0" smtClean="0"/>
              <a:t> up</a:t>
            </a:r>
          </a:p>
          <a:p>
            <a:pPr lvl="1"/>
            <a:r>
              <a:rPr lang="en-US" dirty="0" smtClean="0"/>
              <a:t>NOOBS – “New-out-of-the-box”</a:t>
            </a:r>
          </a:p>
          <a:p>
            <a:pPr lvl="2"/>
            <a:r>
              <a:rPr lang="en-US" dirty="0" smtClean="0"/>
              <a:t>Contains </a:t>
            </a:r>
            <a:r>
              <a:rPr lang="en-US" b="1" dirty="0" err="1" smtClean="0"/>
              <a:t>Raspbian</a:t>
            </a:r>
            <a:r>
              <a:rPr lang="en-US" b="1" dirty="0" smtClean="0"/>
              <a:t> Jessie</a:t>
            </a:r>
          </a:p>
          <a:p>
            <a:r>
              <a:rPr lang="en-US" dirty="0" err="1" smtClean="0"/>
              <a:t>Raspi</a:t>
            </a:r>
            <a:r>
              <a:rPr lang="en-US" dirty="0" smtClean="0"/>
              <a:t> boots from </a:t>
            </a:r>
            <a:r>
              <a:rPr lang="en-US" dirty="0" err="1" smtClean="0"/>
              <a:t>MicroSD</a:t>
            </a:r>
            <a:r>
              <a:rPr lang="en-US" dirty="0" smtClean="0"/>
              <a:t> card (min 4GB, prefer 8GB)</a:t>
            </a:r>
          </a:p>
          <a:p>
            <a:pPr lvl="1"/>
            <a:r>
              <a:rPr lang="en-US" dirty="0" smtClean="0"/>
              <a:t>This SD card has to be </a:t>
            </a:r>
            <a:r>
              <a:rPr lang="en-US" b="1" dirty="0" smtClean="0"/>
              <a:t>prepared</a:t>
            </a:r>
            <a:r>
              <a:rPr lang="en-US" dirty="0" smtClean="0"/>
              <a:t> for Raspberry Pi</a:t>
            </a:r>
          </a:p>
          <a:p>
            <a:r>
              <a:rPr lang="en-US" dirty="0" smtClean="0"/>
              <a:t>Steps in preparing the SD card</a:t>
            </a:r>
          </a:p>
          <a:p>
            <a:pPr lvl="1"/>
            <a:r>
              <a:rPr lang="en-US" dirty="0" smtClean="0"/>
              <a:t>Format the SD card using </a:t>
            </a:r>
            <a:r>
              <a:rPr lang="en-US" dirty="0" err="1" smtClean="0">
                <a:hlinkClick r:id="rId3"/>
              </a:rPr>
              <a:t>SDFormatter</a:t>
            </a:r>
            <a:r>
              <a:rPr lang="en-US" dirty="0" smtClean="0"/>
              <a:t> (Windows)</a:t>
            </a:r>
          </a:p>
          <a:p>
            <a:pPr lvl="2"/>
            <a:r>
              <a:rPr lang="en-US" dirty="0" smtClean="0"/>
              <a:t>In the OPTIONS menu, select “FORMAT SIZE ADJUSTMENT” to “ON”</a:t>
            </a:r>
          </a:p>
          <a:p>
            <a:pPr lvl="1"/>
            <a:r>
              <a:rPr lang="en-US" dirty="0" smtClean="0"/>
              <a:t>Copy the NOOBS zip file contents to SD card</a:t>
            </a:r>
          </a:p>
          <a:p>
            <a:pPr lvl="1"/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862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– </a:t>
            </a:r>
            <a:r>
              <a:rPr lang="en-US" dirty="0" err="1" smtClean="0"/>
              <a:t>Bringup</a:t>
            </a:r>
            <a:r>
              <a:rPr lang="en-US" dirty="0" smtClean="0"/>
              <a:t>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 Boot Menu </a:t>
            </a:r>
            <a:r>
              <a:rPr lang="en-US" dirty="0" err="1" smtClean="0"/>
              <a:t>bringup</a:t>
            </a:r>
            <a:endParaRPr lang="en-US" dirty="0" smtClean="0"/>
          </a:p>
          <a:p>
            <a:pPr lvl="1"/>
            <a:r>
              <a:rPr lang="en-US" dirty="0" smtClean="0"/>
              <a:t>Insert </a:t>
            </a:r>
            <a:r>
              <a:rPr lang="en-US" b="1" dirty="0" smtClean="0"/>
              <a:t>prepared</a:t>
            </a:r>
            <a:r>
              <a:rPr lang="en-US" dirty="0" smtClean="0"/>
              <a:t> </a:t>
            </a:r>
            <a:r>
              <a:rPr lang="en-US" dirty="0" err="1" smtClean="0"/>
              <a:t>MicroSD</a:t>
            </a:r>
            <a:r>
              <a:rPr lang="en-US" dirty="0" smtClean="0"/>
              <a:t> </a:t>
            </a:r>
            <a:r>
              <a:rPr lang="en-US" dirty="0"/>
              <a:t>card </a:t>
            </a:r>
            <a:r>
              <a:rPr lang="en-US" dirty="0" smtClean="0"/>
              <a:t>in </a:t>
            </a:r>
            <a:r>
              <a:rPr lang="en-US" dirty="0" err="1" smtClean="0"/>
              <a:t>Raspi’s</a:t>
            </a:r>
            <a:r>
              <a:rPr lang="en-US" dirty="0" smtClean="0"/>
              <a:t> SD card </a:t>
            </a:r>
            <a:r>
              <a:rPr lang="en-US" dirty="0"/>
              <a:t>slot</a:t>
            </a:r>
          </a:p>
          <a:p>
            <a:pPr lvl="1"/>
            <a:r>
              <a:rPr lang="en-US" dirty="0"/>
              <a:t>Connect HDMI output to monitor using HDMI cable</a:t>
            </a:r>
          </a:p>
          <a:p>
            <a:pPr lvl="1"/>
            <a:r>
              <a:rPr lang="en-US" dirty="0"/>
              <a:t>Connect USB keyboard and </a:t>
            </a:r>
            <a:r>
              <a:rPr lang="en-US" dirty="0" smtClean="0"/>
              <a:t>USB mouse</a:t>
            </a:r>
            <a:endParaRPr lang="en-US" dirty="0"/>
          </a:p>
          <a:p>
            <a:pPr lvl="1"/>
            <a:r>
              <a:rPr lang="en-US" dirty="0"/>
              <a:t>Apply 5V power to </a:t>
            </a:r>
            <a:r>
              <a:rPr lang="en-US" dirty="0" err="1"/>
              <a:t>Raspi</a:t>
            </a:r>
            <a:endParaRPr lang="en-US" dirty="0"/>
          </a:p>
          <a:p>
            <a:r>
              <a:rPr lang="en-US" dirty="0" err="1"/>
              <a:t>Raspi</a:t>
            </a:r>
            <a:r>
              <a:rPr lang="en-US" dirty="0"/>
              <a:t> </a:t>
            </a:r>
            <a:r>
              <a:rPr lang="en-US" dirty="0" smtClean="0"/>
              <a:t>boots </a:t>
            </a:r>
            <a:r>
              <a:rPr lang="en-US" dirty="0"/>
              <a:t>from </a:t>
            </a:r>
            <a:r>
              <a:rPr lang="en-US" dirty="0" smtClean="0"/>
              <a:t>Micro SD card, presents options </a:t>
            </a:r>
            <a:r>
              <a:rPr lang="en-US" dirty="0"/>
              <a:t>screen</a:t>
            </a:r>
          </a:p>
          <a:p>
            <a:r>
              <a:rPr lang="en-US" dirty="0" smtClean="0"/>
              <a:t>Select US English and US keyboard (if applicable)</a:t>
            </a:r>
          </a:p>
          <a:p>
            <a:r>
              <a:rPr lang="en-US" dirty="0" smtClean="0"/>
              <a:t>Select </a:t>
            </a:r>
            <a:r>
              <a:rPr lang="en-US" dirty="0" err="1"/>
              <a:t>Raspbian</a:t>
            </a:r>
            <a:r>
              <a:rPr lang="en-US" dirty="0"/>
              <a:t> for </a:t>
            </a:r>
            <a:r>
              <a:rPr lang="en-US" dirty="0" smtClean="0"/>
              <a:t>install</a:t>
            </a:r>
          </a:p>
          <a:p>
            <a:pPr lvl="1"/>
            <a:r>
              <a:rPr lang="en-US" i="1" dirty="0" err="1" smtClean="0"/>
              <a:t>Raspbian</a:t>
            </a:r>
            <a:r>
              <a:rPr lang="en-US" i="1" dirty="0" smtClean="0"/>
              <a:t> will take ~</a:t>
            </a:r>
            <a:r>
              <a:rPr lang="en-US" i="1" dirty="0"/>
              <a:t>5</a:t>
            </a:r>
            <a:r>
              <a:rPr lang="en-US" i="1" dirty="0" smtClean="0"/>
              <a:t>mins </a:t>
            </a:r>
            <a:r>
              <a:rPr lang="en-US" i="1" baseline="30000" dirty="0" smtClean="0"/>
              <a:t>(Class 10)</a:t>
            </a:r>
            <a:r>
              <a:rPr lang="en-US" i="1" dirty="0" smtClean="0"/>
              <a:t> /~20 </a:t>
            </a:r>
            <a:r>
              <a:rPr lang="en-US" i="1" dirty="0" err="1" smtClean="0"/>
              <a:t>mins</a:t>
            </a:r>
            <a:r>
              <a:rPr lang="en-US" i="1" dirty="0" smtClean="0"/>
              <a:t> </a:t>
            </a:r>
            <a:r>
              <a:rPr lang="en-US" i="1" baseline="30000" dirty="0" smtClean="0"/>
              <a:t>(Class 4)</a:t>
            </a:r>
            <a:r>
              <a:rPr lang="en-US" i="1" dirty="0" smtClean="0"/>
              <a:t> to install</a:t>
            </a:r>
          </a:p>
          <a:p>
            <a:r>
              <a:rPr lang="en-US" dirty="0" smtClean="0"/>
              <a:t>Post-</a:t>
            </a:r>
            <a:r>
              <a:rPr lang="en-US" dirty="0" err="1" smtClean="0"/>
              <a:t>Raspbian</a:t>
            </a:r>
            <a:r>
              <a:rPr lang="en-US" dirty="0" smtClean="0"/>
              <a:t> install, power-boot the </a:t>
            </a:r>
            <a:r>
              <a:rPr lang="en-US" dirty="0" err="1" smtClean="0"/>
              <a:t>Raspi</a:t>
            </a:r>
            <a:endParaRPr lang="en-US" dirty="0" smtClean="0"/>
          </a:p>
          <a:p>
            <a:pPr lvl="1"/>
            <a:r>
              <a:rPr lang="en-US" dirty="0" smtClean="0"/>
              <a:t>It should come up with </a:t>
            </a:r>
            <a:r>
              <a:rPr lang="en-US" dirty="0" err="1" smtClean="0"/>
              <a:t>Raspbian</a:t>
            </a:r>
            <a:r>
              <a:rPr lang="en-US" dirty="0" smtClean="0"/>
              <a:t> Jessie Linux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3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– 1</a:t>
            </a:r>
            <a:r>
              <a:rPr lang="en-US" baseline="30000" dirty="0" smtClean="0"/>
              <a:t>st</a:t>
            </a:r>
            <a:r>
              <a:rPr lang="en-US" dirty="0" smtClean="0"/>
              <a:t> run </a:t>
            </a:r>
            <a:r>
              <a:rPr lang="en-US" dirty="0" err="1" smtClean="0"/>
              <a:t>config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Run a Terminal</a:t>
            </a:r>
          </a:p>
          <a:p>
            <a:pPr marL="393192" lvl="1" indent="0">
              <a:buNone/>
            </a:pPr>
            <a:r>
              <a:rPr lang="en-US" dirty="0" smtClean="0"/>
              <a:t>#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raspi-config</a:t>
            </a:r>
            <a:endParaRPr lang="en-US" b="1" dirty="0" smtClean="0"/>
          </a:p>
          <a:p>
            <a:r>
              <a:rPr lang="en-US" dirty="0" smtClean="0"/>
              <a:t>Select </a:t>
            </a:r>
            <a:r>
              <a:rPr lang="en-US" b="1" dirty="0" smtClean="0"/>
              <a:t>8 Advanced</a:t>
            </a:r>
            <a:r>
              <a:rPr lang="en-US" dirty="0" smtClean="0"/>
              <a:t>, and </a:t>
            </a:r>
            <a:r>
              <a:rPr lang="en-US" b="1" dirty="0" smtClean="0"/>
              <a:t>A4 SSH</a:t>
            </a:r>
            <a:r>
              <a:rPr lang="en-US" dirty="0" smtClean="0"/>
              <a:t> to enable SSH login</a:t>
            </a:r>
          </a:p>
          <a:p>
            <a:r>
              <a:rPr lang="en-US" b="1" dirty="0" smtClean="0"/>
              <a:t>Reboot </a:t>
            </a:r>
            <a:r>
              <a:rPr lang="en-US" dirty="0" smtClean="0"/>
              <a:t>if you change any options in </a:t>
            </a:r>
            <a:r>
              <a:rPr lang="en-US" dirty="0" err="1" smtClean="0"/>
              <a:t>raspi-config</a:t>
            </a:r>
            <a:endParaRPr lang="en-US" dirty="0" smtClean="0"/>
          </a:p>
          <a:p>
            <a:r>
              <a:rPr lang="en-US" dirty="0" smtClean="0"/>
              <a:t>You could also opt to: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hange default time-zone (</a:t>
            </a:r>
            <a:r>
              <a:rPr lang="en-US" b="1" dirty="0" smtClean="0"/>
              <a:t>4 Internationalization</a:t>
            </a:r>
            <a:r>
              <a:rPr lang="en-US" dirty="0" smtClean="0"/>
              <a:t>, </a:t>
            </a:r>
            <a:r>
              <a:rPr lang="en-US" b="1" dirty="0" smtClean="0"/>
              <a:t>I2 Change Time Zone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Change keyboard layouts (</a:t>
            </a:r>
            <a:r>
              <a:rPr lang="en-US" b="1" dirty="0" smtClean="0"/>
              <a:t>4 Internationalization</a:t>
            </a:r>
            <a:r>
              <a:rPr lang="en-US" dirty="0" smtClean="0"/>
              <a:t>, </a:t>
            </a:r>
            <a:r>
              <a:rPr lang="en-US" b="1" dirty="0" smtClean="0"/>
              <a:t>I3 Keyboard Layout</a:t>
            </a:r>
            <a:r>
              <a:rPr lang="en-US" dirty="0" smtClean="0"/>
              <a:t>)</a:t>
            </a:r>
          </a:p>
          <a:p>
            <a:r>
              <a:rPr lang="en-US" dirty="0" smtClean="0"/>
              <a:t>If we have a </a:t>
            </a:r>
            <a:r>
              <a:rPr lang="en-US" dirty="0" err="1" smtClean="0"/>
              <a:t>Raspi</a:t>
            </a:r>
            <a:r>
              <a:rPr lang="en-US" dirty="0" smtClean="0"/>
              <a:t> Camera sensor, it is to be </a:t>
            </a:r>
            <a:r>
              <a:rPr lang="en-US" b="1" dirty="0" smtClean="0"/>
              <a:t>enabled</a:t>
            </a:r>
            <a:r>
              <a:rPr lang="en-US" dirty="0" smtClean="0"/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1254658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Interaction: Terminal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Terminal is a command-line interface to interact with the Linux kernel running on the </a:t>
            </a:r>
            <a:r>
              <a:rPr lang="en-US" dirty="0" err="1" smtClean="0"/>
              <a:t>Raspi</a:t>
            </a:r>
            <a:endParaRPr lang="en-US" dirty="0" smtClean="0"/>
          </a:p>
          <a:p>
            <a:r>
              <a:rPr lang="en-US" dirty="0" smtClean="0"/>
              <a:t>Invoked by double clicking on the “Terminal” icon</a:t>
            </a:r>
          </a:p>
          <a:p>
            <a:pPr lvl="1"/>
            <a:r>
              <a:rPr lang="en-US" dirty="0" smtClean="0"/>
              <a:t>This will give a DOS-like interface for typing commands</a:t>
            </a:r>
          </a:p>
          <a:p>
            <a:r>
              <a:rPr lang="en-US" dirty="0" smtClean="0"/>
              <a:t>Open a “term” and type “date”</a:t>
            </a:r>
          </a:p>
          <a:p>
            <a:pPr lvl="1"/>
            <a:r>
              <a:rPr lang="en-US" dirty="0" smtClean="0"/>
              <a:t>Exact time will be random*</a:t>
            </a:r>
          </a:p>
          <a:p>
            <a:pPr lvl="1"/>
            <a:r>
              <a:rPr lang="en-US" dirty="0" smtClean="0"/>
              <a:t>But Time Zone should be whatever we set earlier (IST)</a:t>
            </a:r>
          </a:p>
          <a:p>
            <a:pPr marL="27432" indent="0">
              <a:buNone/>
            </a:pPr>
            <a:endParaRPr lang="en-US" dirty="0"/>
          </a:p>
          <a:p>
            <a:pPr marL="27432" indent="0">
              <a:buNone/>
            </a:pPr>
            <a:endParaRPr lang="en-US" sz="1400" dirty="0" smtClean="0"/>
          </a:p>
          <a:p>
            <a:pPr marL="27432" indent="0">
              <a:buNone/>
            </a:pPr>
            <a:r>
              <a:rPr lang="en-US" sz="1400" smtClean="0"/>
              <a:t>*</a:t>
            </a:r>
            <a:r>
              <a:rPr lang="en-US" sz="1400" dirty="0" smtClean="0"/>
              <a:t>unless it gets time via NTP!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736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 Boot-time Messages: </a:t>
            </a:r>
            <a:r>
              <a:rPr lang="en-US" dirty="0" err="1" smtClean="0"/>
              <a:t>dmesg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command “</a:t>
            </a:r>
            <a:r>
              <a:rPr lang="en-US" dirty="0" err="1" smtClean="0"/>
              <a:t>dmesg</a:t>
            </a:r>
            <a:r>
              <a:rPr lang="en-US" dirty="0" smtClean="0"/>
              <a:t>” shows the various things that took place during the Pi’s boot</a:t>
            </a:r>
          </a:p>
          <a:p>
            <a:pPr lvl="1"/>
            <a:r>
              <a:rPr lang="en-US" dirty="0" smtClean="0"/>
              <a:t>Board processor (CPU)</a:t>
            </a:r>
          </a:p>
          <a:p>
            <a:pPr lvl="1"/>
            <a:r>
              <a:rPr lang="en-US" dirty="0" smtClean="0"/>
              <a:t>Linux kernel that booted the system</a:t>
            </a:r>
          </a:p>
          <a:p>
            <a:pPr lvl="1"/>
            <a:r>
              <a:rPr lang="en-US" dirty="0" smtClean="0"/>
              <a:t>OS modules that got loaded</a:t>
            </a:r>
          </a:p>
          <a:p>
            <a:pPr lvl="1"/>
            <a:r>
              <a:rPr lang="en-US" dirty="0" smtClean="0"/>
              <a:t>Hardware that was detected</a:t>
            </a:r>
          </a:p>
          <a:p>
            <a:r>
              <a:rPr lang="en-US" dirty="0" smtClean="0"/>
              <a:t>Pipe the output of “</a:t>
            </a:r>
            <a:r>
              <a:rPr lang="en-US" dirty="0" err="1" smtClean="0"/>
              <a:t>dmesg</a:t>
            </a:r>
            <a:r>
              <a:rPr lang="en-US" dirty="0" smtClean="0"/>
              <a:t>” to more to see 1 </a:t>
            </a:r>
            <a:r>
              <a:rPr lang="en-US" dirty="0" err="1" smtClean="0"/>
              <a:t>screenful</a:t>
            </a:r>
            <a:r>
              <a:rPr lang="en-US" dirty="0" smtClean="0"/>
              <a:t> at a time</a:t>
            </a:r>
          </a:p>
          <a:p>
            <a:pPr marL="393192" lvl="1" indent="0">
              <a:buNone/>
            </a:pPr>
            <a:r>
              <a:rPr lang="en-US" dirty="0" err="1"/>
              <a:t>d</a:t>
            </a:r>
            <a:r>
              <a:rPr lang="en-US" dirty="0" err="1" smtClean="0"/>
              <a:t>mesg</a:t>
            </a:r>
            <a:r>
              <a:rPr lang="en-US" dirty="0" smtClean="0"/>
              <a:t> | more</a:t>
            </a:r>
          </a:p>
          <a:p>
            <a:r>
              <a:rPr lang="en-US" dirty="0" smtClean="0"/>
              <a:t>You can spot the USB keyboard, mouse, </a:t>
            </a:r>
            <a:r>
              <a:rPr lang="en-US" dirty="0" err="1" smtClean="0"/>
              <a:t>etc</a:t>
            </a:r>
            <a:r>
              <a:rPr lang="en-US" dirty="0" smtClean="0"/>
              <a:t> that the Linux kernel detected in these messages…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/>
              <a:t> </a:t>
            </a:r>
            <a:r>
              <a:rPr lang="en-US" dirty="0" smtClean="0"/>
              <a:t>Control: SSH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SSH is enabled, it is possible to log in to, and control the Pi remotely</a:t>
            </a:r>
          </a:p>
          <a:p>
            <a:r>
              <a:rPr lang="en-US" dirty="0" smtClean="0"/>
              <a:t>On a PC terminal-software (like </a:t>
            </a:r>
            <a:r>
              <a:rPr lang="en-US" dirty="0" err="1" smtClean="0"/>
              <a:t>PuTTY</a:t>
            </a:r>
            <a:r>
              <a:rPr lang="en-US" dirty="0" smtClean="0"/>
              <a:t>):</a:t>
            </a:r>
          </a:p>
          <a:p>
            <a:pPr lvl="1"/>
            <a:r>
              <a:rPr lang="en-US" dirty="0" err="1"/>
              <a:t>s</a:t>
            </a:r>
            <a:r>
              <a:rPr lang="en-US" dirty="0" err="1" smtClean="0"/>
              <a:t>sh</a:t>
            </a:r>
            <a:r>
              <a:rPr lang="en-US" dirty="0" smtClean="0"/>
              <a:t> pi@&lt;IP address of </a:t>
            </a:r>
            <a:r>
              <a:rPr lang="en-US" dirty="0"/>
              <a:t>P</a:t>
            </a:r>
            <a:r>
              <a:rPr lang="en-US" dirty="0" smtClean="0"/>
              <a:t>i”</a:t>
            </a:r>
          </a:p>
          <a:p>
            <a:pPr lvl="1"/>
            <a:r>
              <a:rPr lang="en-US" dirty="0" smtClean="0"/>
              <a:t>Enter pi’s password (default: </a:t>
            </a:r>
            <a:r>
              <a:rPr lang="en-US" i="1" dirty="0" smtClean="0"/>
              <a:t>raspberry</a:t>
            </a:r>
            <a:r>
              <a:rPr lang="en-US" dirty="0" smtClean="0"/>
              <a:t>)</a:t>
            </a:r>
          </a:p>
          <a:p>
            <a:r>
              <a:rPr lang="en-US" dirty="0" smtClean="0"/>
              <a:t>You should get a login prompt on the Pi</a:t>
            </a:r>
          </a:p>
          <a:p>
            <a:r>
              <a:rPr lang="en-US" dirty="0" smtClean="0"/>
              <a:t>Confirm by checking user pi’s Home Directory, and also the number of people logged in</a:t>
            </a:r>
          </a:p>
          <a:p>
            <a:pPr lvl="1"/>
            <a:r>
              <a:rPr lang="en-US" dirty="0" smtClean="0"/>
              <a:t>Issue “w” command in a Pi terminal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29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/>
              <a:t> </a:t>
            </a:r>
            <a:r>
              <a:rPr lang="en-US" dirty="0" smtClean="0"/>
              <a:t>File transfer: </a:t>
            </a:r>
            <a:r>
              <a:rPr lang="en-US" dirty="0" err="1" smtClean="0"/>
              <a:t>WinSCP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transfer files using the SCP (secure copy) protocol</a:t>
            </a:r>
          </a:p>
          <a:p>
            <a:r>
              <a:rPr lang="en-US" dirty="0" smtClean="0"/>
              <a:t>Use </a:t>
            </a:r>
            <a:r>
              <a:rPr lang="en-US" dirty="0" err="1" smtClean="0"/>
              <a:t>WinSCP</a:t>
            </a:r>
            <a:r>
              <a:rPr lang="en-US" dirty="0" smtClean="0"/>
              <a:t> program for transferring files to and from Pi and PC</a:t>
            </a:r>
          </a:p>
          <a:p>
            <a:pPr lvl="3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105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Raspi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File transfer (Windows – Linux)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Use SMB/WINS protocol to share a folder on </a:t>
            </a:r>
            <a:r>
              <a:rPr lang="en-US" dirty="0" err="1" smtClean="0"/>
              <a:t>Raspi</a:t>
            </a:r>
            <a:endParaRPr lang="en-US" dirty="0" smtClean="0"/>
          </a:p>
          <a:p>
            <a:r>
              <a:rPr lang="en-US" dirty="0" smtClean="0"/>
              <a:t>On an </a:t>
            </a:r>
            <a:r>
              <a:rPr lang="en-US" dirty="0" err="1" smtClean="0"/>
              <a:t>Raspi</a:t>
            </a:r>
            <a:r>
              <a:rPr lang="en-US" dirty="0" smtClean="0"/>
              <a:t> terminal:</a:t>
            </a:r>
          </a:p>
          <a:p>
            <a:pPr lvl="1"/>
            <a:r>
              <a:rPr lang="en-US" dirty="0" smtClean="0"/>
              <a:t>Type “</a:t>
            </a:r>
            <a:r>
              <a:rPr lang="en-US" dirty="0" err="1" smtClean="0"/>
              <a:t>sudo</a:t>
            </a:r>
            <a:r>
              <a:rPr lang="en-US" dirty="0" smtClean="0"/>
              <a:t> apt-get install samba samba-common-bin”</a:t>
            </a:r>
          </a:p>
          <a:p>
            <a:pPr lvl="1"/>
            <a:r>
              <a:rPr lang="en-US" dirty="0" smtClean="0"/>
              <a:t>This installs the Samba client</a:t>
            </a:r>
          </a:p>
          <a:p>
            <a:pPr lvl="1"/>
            <a:r>
              <a:rPr lang="en-US" dirty="0" smtClean="0"/>
              <a:t>Change entries in Samba’s </a:t>
            </a:r>
            <a:r>
              <a:rPr lang="en-US" dirty="0" err="1" smtClean="0"/>
              <a:t>conf</a:t>
            </a:r>
            <a:r>
              <a:rPr lang="en-US" dirty="0" smtClean="0"/>
              <a:t> file:</a:t>
            </a:r>
          </a:p>
          <a:p>
            <a:pPr lvl="2"/>
            <a:r>
              <a:rPr lang="en-US" dirty="0" smtClean="0"/>
              <a:t>Type “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nano</a:t>
            </a:r>
            <a:r>
              <a:rPr lang="en-US" dirty="0" smtClean="0"/>
              <a:t> /</a:t>
            </a:r>
            <a:r>
              <a:rPr lang="en-US" dirty="0" err="1" smtClean="0"/>
              <a:t>etc</a:t>
            </a:r>
            <a:r>
              <a:rPr lang="en-US" dirty="0" smtClean="0"/>
              <a:t>/samba/</a:t>
            </a:r>
            <a:r>
              <a:rPr lang="en-US" dirty="0" err="1" smtClean="0"/>
              <a:t>smb.conf</a:t>
            </a:r>
            <a:r>
              <a:rPr lang="en-US" dirty="0" smtClean="0"/>
              <a:t>”</a:t>
            </a:r>
          </a:p>
          <a:p>
            <a:pPr lvl="2"/>
            <a:r>
              <a:rPr lang="en-US" dirty="0" smtClean="0"/>
              <a:t>In the editor, add the following section:</a:t>
            </a:r>
          </a:p>
          <a:p>
            <a:pPr marL="1216152" lvl="4" indent="0">
              <a:buNone/>
            </a:pPr>
            <a:r>
              <a:rPr lang="en-US" dirty="0"/>
              <a:t>[</a:t>
            </a:r>
            <a:r>
              <a:rPr lang="en-US" dirty="0" err="1"/>
              <a:t>pihome</a:t>
            </a:r>
            <a:r>
              <a:rPr lang="en-US" dirty="0"/>
              <a:t>] </a:t>
            </a:r>
          </a:p>
          <a:p>
            <a:pPr marL="1216152" lvl="4" indent="0">
              <a:buNone/>
            </a:pPr>
            <a:r>
              <a:rPr lang="en-US" dirty="0"/>
              <a:t>comment= Pi </a:t>
            </a:r>
          </a:p>
          <a:p>
            <a:pPr marL="1216152" lvl="4" indent="0">
              <a:buNone/>
            </a:pPr>
            <a:r>
              <a:rPr lang="en-US" dirty="0" smtClean="0"/>
              <a:t>path</a:t>
            </a:r>
            <a:r>
              <a:rPr lang="en-US" dirty="0"/>
              <a:t>=/home/pi </a:t>
            </a:r>
          </a:p>
          <a:p>
            <a:pPr marL="1216152" lvl="4" indent="0">
              <a:buNone/>
            </a:pPr>
            <a:r>
              <a:rPr lang="en-US" dirty="0" err="1"/>
              <a:t>browseable</a:t>
            </a:r>
            <a:r>
              <a:rPr lang="en-US" dirty="0"/>
              <a:t>=Yes </a:t>
            </a:r>
          </a:p>
          <a:p>
            <a:pPr marL="1216152" lvl="4" indent="0">
              <a:buNone/>
            </a:pPr>
            <a:r>
              <a:rPr lang="en-US" dirty="0"/>
              <a:t>writeable=Yes </a:t>
            </a:r>
          </a:p>
          <a:p>
            <a:pPr marL="1216152" lvl="4" indent="0">
              <a:buNone/>
            </a:pPr>
            <a:r>
              <a:rPr lang="en-US" dirty="0"/>
              <a:t>only guest=no </a:t>
            </a:r>
          </a:p>
          <a:p>
            <a:pPr marL="1216152" lvl="4" indent="0">
              <a:buNone/>
            </a:pPr>
            <a:r>
              <a:rPr lang="en-US" dirty="0"/>
              <a:t>create mask=0777 </a:t>
            </a:r>
          </a:p>
          <a:p>
            <a:pPr marL="1216152" lvl="4" indent="0">
              <a:buNone/>
            </a:pPr>
            <a:r>
              <a:rPr lang="en-US" dirty="0"/>
              <a:t>directory mask=0777 </a:t>
            </a:r>
          </a:p>
          <a:p>
            <a:pPr marL="1216152" lvl="4" indent="0">
              <a:buNone/>
            </a:pPr>
            <a:r>
              <a:rPr lang="en-US" dirty="0"/>
              <a:t>public=no</a:t>
            </a:r>
            <a:endParaRPr lang="en-US" dirty="0" smtClean="0"/>
          </a:p>
          <a:p>
            <a:pPr lvl="2"/>
            <a:r>
              <a:rPr lang="en-US" dirty="0" smtClean="0"/>
              <a:t>Save </a:t>
            </a:r>
            <a:r>
              <a:rPr lang="en-US" dirty="0"/>
              <a:t>the </a:t>
            </a:r>
            <a:r>
              <a:rPr lang="en-US" dirty="0" smtClean="0"/>
              <a:t>file</a:t>
            </a:r>
          </a:p>
          <a:p>
            <a:pPr lvl="1"/>
            <a:r>
              <a:rPr lang="en-US" dirty="0" smtClean="0"/>
              <a:t>Type “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smbpasswd</a:t>
            </a:r>
            <a:r>
              <a:rPr lang="en-US" dirty="0" smtClean="0"/>
              <a:t> </a:t>
            </a:r>
            <a:r>
              <a:rPr lang="en-US" dirty="0"/>
              <a:t>–a pi” and enter pi’s password </a:t>
            </a:r>
            <a:r>
              <a:rPr lang="en-US" dirty="0" smtClean="0"/>
              <a:t>twice</a:t>
            </a:r>
          </a:p>
          <a:p>
            <a:pPr lvl="1"/>
            <a:r>
              <a:rPr lang="en-US" dirty="0" smtClean="0"/>
              <a:t>Type “</a:t>
            </a:r>
            <a:r>
              <a:rPr lang="en-US" dirty="0" err="1" smtClean="0"/>
              <a:t>sudo</a:t>
            </a:r>
            <a:r>
              <a:rPr lang="en-US" dirty="0"/>
              <a:t> </a:t>
            </a:r>
            <a:r>
              <a:rPr lang="en-US" dirty="0" err="1" smtClean="0"/>
              <a:t>smbd</a:t>
            </a:r>
            <a:r>
              <a:rPr lang="en-US" dirty="0" smtClean="0"/>
              <a:t> restart”</a:t>
            </a:r>
          </a:p>
          <a:p>
            <a:pPr marL="370332" indent="-342900"/>
            <a:r>
              <a:rPr lang="en-US" dirty="0" smtClean="0"/>
              <a:t>Now you should be able to see pi’s home folder from any Windows PC</a:t>
            </a:r>
          </a:p>
          <a:p>
            <a:pPr marL="736092" lvl="1" indent="-342900"/>
            <a:r>
              <a:rPr lang="en-US" dirty="0" smtClean="0"/>
              <a:t>In Explorer, enter “\\&lt;IP address of </a:t>
            </a:r>
            <a:r>
              <a:rPr lang="en-US" dirty="0" err="1" smtClean="0"/>
              <a:t>Raspi</a:t>
            </a:r>
            <a:r>
              <a:rPr lang="en-US" dirty="0" smtClean="0"/>
              <a:t>&gt;\pi”</a:t>
            </a:r>
          </a:p>
          <a:p>
            <a:pPr marL="370332" indent="-342900"/>
            <a:r>
              <a:rPr lang="en-US" dirty="0" smtClean="0"/>
              <a:t>Debug logs available at /</a:t>
            </a:r>
            <a:r>
              <a:rPr lang="en-US" dirty="0" err="1" smtClean="0"/>
              <a:t>var</a:t>
            </a:r>
            <a:r>
              <a:rPr lang="en-US" dirty="0" smtClean="0"/>
              <a:t>/log/samba/log.&lt;PC&gt;</a:t>
            </a:r>
          </a:p>
          <a:p>
            <a:pPr marL="370332" indent="-342900"/>
            <a:r>
              <a:rPr lang="en-US" dirty="0" smtClean="0"/>
              <a:t>Status available through the command: </a:t>
            </a:r>
            <a:r>
              <a:rPr lang="en-US" dirty="0" err="1" smtClean="0"/>
              <a:t>smbstatus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1034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/>
              <a:t> </a:t>
            </a:r>
            <a:r>
              <a:rPr lang="en-US" dirty="0" smtClean="0"/>
              <a:t>- Keeping up to 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Open up a </a:t>
            </a:r>
            <a:r>
              <a:rPr lang="en-US" dirty="0"/>
              <a:t>t</a:t>
            </a:r>
            <a:r>
              <a:rPr lang="en-US" dirty="0" smtClean="0"/>
              <a:t>erminal on the </a:t>
            </a:r>
            <a:r>
              <a:rPr lang="en-US" dirty="0"/>
              <a:t>P</a:t>
            </a:r>
            <a:r>
              <a:rPr lang="en-US" dirty="0" smtClean="0"/>
              <a:t>i </a:t>
            </a:r>
          </a:p>
          <a:p>
            <a:r>
              <a:rPr lang="en-US" smtClean="0"/>
              <a:t>Type </a:t>
            </a:r>
            <a:r>
              <a:rPr lang="en-US" dirty="0" smtClean="0"/>
              <a:t>“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rpi</a:t>
            </a:r>
            <a:r>
              <a:rPr lang="en-US" dirty="0" smtClean="0"/>
              <a:t>-update” </a:t>
            </a:r>
          </a:p>
          <a:p>
            <a:pPr lvl="1"/>
            <a:r>
              <a:rPr lang="en-US" dirty="0" smtClean="0"/>
              <a:t>This will connect to the </a:t>
            </a:r>
            <a:r>
              <a:rPr lang="en-US" dirty="0" err="1" smtClean="0"/>
              <a:t>Raspi</a:t>
            </a:r>
            <a:r>
              <a:rPr lang="en-US" dirty="0" smtClean="0"/>
              <a:t> public servers and download latest updates to </a:t>
            </a:r>
            <a:r>
              <a:rPr lang="en-US" dirty="0" err="1" smtClean="0"/>
              <a:t>Raspi</a:t>
            </a:r>
            <a:r>
              <a:rPr lang="en-US" dirty="0" smtClean="0"/>
              <a:t> firmware, OS and applications</a:t>
            </a:r>
          </a:p>
          <a:p>
            <a:r>
              <a:rPr lang="en-US" dirty="0" smtClean="0"/>
              <a:t>After the update goes through, reboot the </a:t>
            </a:r>
            <a:r>
              <a:rPr lang="en-US" dirty="0" err="1" smtClean="0"/>
              <a:t>Raspi</a:t>
            </a:r>
            <a:endParaRPr lang="en-US" dirty="0" smtClean="0"/>
          </a:p>
          <a:p>
            <a:pPr lvl="1"/>
            <a:r>
              <a:rPr lang="en-US" dirty="0" smtClean="0"/>
              <a:t>Type “</a:t>
            </a:r>
            <a:r>
              <a:rPr lang="en-US" dirty="0" err="1" smtClean="0"/>
              <a:t>sudo</a:t>
            </a:r>
            <a:r>
              <a:rPr lang="en-US" dirty="0" smtClean="0"/>
              <a:t> reboot”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34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Embedded “Time”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All embedded devices need a concept of “time”</a:t>
            </a:r>
          </a:p>
          <a:p>
            <a:pPr lvl="1"/>
            <a:r>
              <a:rPr lang="en-US" dirty="0" smtClean="0"/>
              <a:t>This enables them participate in real-time transactions</a:t>
            </a:r>
          </a:p>
          <a:p>
            <a:pPr lvl="1"/>
            <a:r>
              <a:rPr lang="en-US" dirty="0" smtClean="0"/>
              <a:t>Certain functional areas require time to be sync’d accurately</a:t>
            </a:r>
          </a:p>
          <a:p>
            <a:pPr lvl="2"/>
            <a:r>
              <a:rPr lang="en-US" dirty="0" smtClean="0"/>
              <a:t>Finance / Stock trading</a:t>
            </a:r>
          </a:p>
          <a:p>
            <a:pPr lvl="2"/>
            <a:r>
              <a:rPr lang="en-US" dirty="0" smtClean="0"/>
              <a:t>Location / GPS / Real-time tracking</a:t>
            </a:r>
          </a:p>
          <a:p>
            <a:pPr lvl="2"/>
            <a:r>
              <a:rPr lang="en-US" dirty="0" smtClean="0"/>
              <a:t>Security / Video Surveillance</a:t>
            </a:r>
          </a:p>
          <a:p>
            <a:r>
              <a:rPr lang="en-US" dirty="0" smtClean="0"/>
              <a:t>Getting a sync’d time – options</a:t>
            </a:r>
          </a:p>
          <a:p>
            <a:pPr lvl="1"/>
            <a:r>
              <a:rPr lang="en-US" dirty="0" smtClean="0"/>
              <a:t>External</a:t>
            </a:r>
          </a:p>
          <a:p>
            <a:pPr lvl="2"/>
            <a:r>
              <a:rPr lang="en-US" dirty="0" smtClean="0"/>
              <a:t>Internet (NTP)</a:t>
            </a:r>
          </a:p>
          <a:p>
            <a:pPr lvl="2"/>
            <a:r>
              <a:rPr lang="en-US" dirty="0" smtClean="0"/>
              <a:t>Local Area Network having a dedicated NTP server</a:t>
            </a:r>
          </a:p>
          <a:p>
            <a:pPr lvl="1"/>
            <a:r>
              <a:rPr lang="en-US" dirty="0" smtClean="0"/>
              <a:t>Internal</a:t>
            </a:r>
          </a:p>
          <a:p>
            <a:pPr lvl="2"/>
            <a:r>
              <a:rPr lang="en-US" dirty="0" smtClean="0"/>
              <a:t>RTC</a:t>
            </a:r>
          </a:p>
          <a:p>
            <a:r>
              <a:rPr lang="en-US" dirty="0" smtClean="0"/>
              <a:t>Issues with NTP</a:t>
            </a:r>
          </a:p>
          <a:p>
            <a:r>
              <a:rPr lang="en-US" dirty="0" smtClean="0"/>
              <a:t>Advantages of RTC</a:t>
            </a:r>
          </a:p>
          <a:p>
            <a:pPr lvl="2"/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8099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: Time and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will run an NTP client by default</a:t>
            </a:r>
          </a:p>
          <a:p>
            <a:pPr lvl="1"/>
            <a:r>
              <a:rPr lang="en-US" dirty="0" smtClean="0"/>
              <a:t>Try to get time from the internet</a:t>
            </a:r>
          </a:p>
          <a:p>
            <a:pPr lvl="1"/>
            <a:r>
              <a:rPr lang="en-US" dirty="0" smtClean="0"/>
              <a:t>Type: $ date and verify time is “current”</a:t>
            </a:r>
          </a:p>
          <a:p>
            <a:r>
              <a:rPr lang="en-US" dirty="0" smtClean="0"/>
              <a:t>But what if there is no network connection?</a:t>
            </a:r>
          </a:p>
          <a:p>
            <a:r>
              <a:rPr lang="en-US" dirty="0" smtClean="0"/>
              <a:t>Or the network does not permit NTP connections?</a:t>
            </a:r>
          </a:p>
          <a:p>
            <a:endParaRPr lang="en-US" dirty="0"/>
          </a:p>
          <a:p>
            <a:r>
              <a:rPr lang="en-US" dirty="0" smtClean="0"/>
              <a:t>Enter RTC (Real Time Clock) Module</a:t>
            </a:r>
          </a:p>
          <a:p>
            <a:pPr lvl="1"/>
            <a:r>
              <a:rPr lang="en-US" dirty="0" smtClean="0"/>
              <a:t>This RTC is on </a:t>
            </a:r>
            <a:r>
              <a:rPr lang="en-US" smtClean="0"/>
              <a:t>the </a:t>
            </a:r>
            <a:r>
              <a:rPr lang="en-US"/>
              <a:t>“I</a:t>
            </a:r>
            <a:r>
              <a:rPr lang="en-US" baseline="30000"/>
              <a:t>2</a:t>
            </a:r>
            <a:r>
              <a:rPr lang="en-US"/>
              <a:t>C </a:t>
            </a:r>
            <a:r>
              <a:rPr lang="en-US" dirty="0" smtClean="0"/>
              <a:t>bus”</a:t>
            </a:r>
          </a:p>
        </p:txBody>
      </p:sp>
    </p:spTree>
    <p:extLst>
      <p:ext uri="{BB962C8B-B14F-4D97-AF65-F5344CB8AC3E}">
        <p14:creationId xmlns:p14="http://schemas.microsoft.com/office/powerpoint/2010/main" val="321490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Raspi3: GPIO Pinout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204864"/>
            <a:ext cx="6105228" cy="4176464"/>
          </a:xfrm>
        </p:spPr>
      </p:pic>
    </p:spTree>
    <p:extLst>
      <p:ext uri="{BB962C8B-B14F-4D97-AF65-F5344CB8AC3E}">
        <p14:creationId xmlns:p14="http://schemas.microsoft.com/office/powerpoint/2010/main" val="21233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Time: </a:t>
            </a:r>
            <a:r>
              <a:rPr lang="en-US" dirty="0"/>
              <a:t>I</a:t>
            </a:r>
            <a:r>
              <a:rPr lang="en-US" baseline="30000" dirty="0"/>
              <a:t>2</a:t>
            </a:r>
            <a:r>
              <a:rPr lang="en-US" dirty="0"/>
              <a:t>C </a:t>
            </a:r>
            <a:r>
              <a:rPr lang="en-US" dirty="0" smtClean="0"/>
              <a:t>RTC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Disable Pi’s </a:t>
            </a:r>
            <a:r>
              <a:rPr lang="en-US" dirty="0" err="1" smtClean="0"/>
              <a:t>ntp</a:t>
            </a:r>
            <a:r>
              <a:rPr lang="en-US" dirty="0" smtClean="0"/>
              <a:t> by $ </a:t>
            </a:r>
            <a:r>
              <a:rPr lang="en-US" dirty="0" err="1" smtClean="0"/>
              <a:t>sudo</a:t>
            </a:r>
            <a:r>
              <a:rPr lang="en-US" dirty="0" smtClean="0"/>
              <a:t> apt-get remove </a:t>
            </a:r>
            <a:r>
              <a:rPr lang="en-US" dirty="0" err="1" smtClean="0"/>
              <a:t>ntp</a:t>
            </a:r>
            <a:endParaRPr lang="en-US" dirty="0" smtClean="0"/>
          </a:p>
          <a:p>
            <a:r>
              <a:rPr lang="en-US" dirty="0" smtClean="0"/>
              <a:t>Enable the i2c bus by selecting from </a:t>
            </a:r>
            <a:r>
              <a:rPr lang="en-US" dirty="0" err="1" smtClean="0"/>
              <a:t>raspi-config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8 Advanced Options</a:t>
            </a:r>
            <a:endParaRPr lang="en-US" dirty="0"/>
          </a:p>
          <a:p>
            <a:pPr lvl="2"/>
            <a:r>
              <a:rPr lang="en-US" b="1" dirty="0" smtClean="0"/>
              <a:t>A7 Enable automatic loading of i2c module</a:t>
            </a:r>
          </a:p>
          <a:p>
            <a:r>
              <a:rPr lang="en-US" dirty="0" smtClean="0"/>
              <a:t>Install i2c tools: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sudo</a:t>
            </a:r>
            <a:r>
              <a:rPr lang="en-US" dirty="0" smtClean="0"/>
              <a:t> apt-get install python-</a:t>
            </a:r>
            <a:r>
              <a:rPr lang="en-US" dirty="0" err="1" smtClean="0"/>
              <a:t>smbus</a:t>
            </a:r>
            <a:r>
              <a:rPr lang="en-US" dirty="0" smtClean="0"/>
              <a:t> i2c-tools</a:t>
            </a:r>
          </a:p>
          <a:p>
            <a:r>
              <a:rPr lang="en-US" dirty="0" smtClean="0"/>
              <a:t>Enable i2c loading at boot-time:</a:t>
            </a:r>
          </a:p>
          <a:p>
            <a:pPr lvl="1"/>
            <a:r>
              <a:rPr lang="en-US" dirty="0" smtClean="0"/>
              <a:t>Add i2c-dev as a loadable module in /</a:t>
            </a:r>
            <a:r>
              <a:rPr lang="en-US" dirty="0" err="1" smtClean="0"/>
              <a:t>etc</a:t>
            </a:r>
            <a:r>
              <a:rPr lang="en-US" dirty="0" smtClean="0"/>
              <a:t>/modules</a:t>
            </a:r>
          </a:p>
          <a:p>
            <a:pPr lvl="1"/>
            <a:r>
              <a:rPr lang="en-US" dirty="0" smtClean="0"/>
              <a:t>Add user pi to i2c group: $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adduser</a:t>
            </a:r>
            <a:r>
              <a:rPr lang="en-US" dirty="0" smtClean="0"/>
              <a:t> pi i2c</a:t>
            </a:r>
          </a:p>
          <a:p>
            <a:r>
              <a:rPr lang="en-US" dirty="0" smtClean="0"/>
              <a:t>Connect RTC module with Pi off, and boot up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sudo</a:t>
            </a:r>
            <a:r>
              <a:rPr lang="en-US" dirty="0" smtClean="0"/>
              <a:t> i2cdetect –y 1 </a:t>
            </a:r>
          </a:p>
          <a:p>
            <a:pPr marL="393192" lvl="1" indent="0">
              <a:buNone/>
            </a:pPr>
            <a:r>
              <a:rPr lang="en-US" dirty="0"/>
              <a:t>	</a:t>
            </a:r>
            <a:r>
              <a:rPr lang="en-US" dirty="0" smtClean="0"/>
              <a:t>-&gt; should show a device at address 0x68</a:t>
            </a:r>
          </a:p>
          <a:p>
            <a:r>
              <a:rPr lang="en-US" dirty="0" smtClean="0"/>
              <a:t>Add new device to the </a:t>
            </a:r>
            <a:r>
              <a:rPr lang="en-US" dirty="0" err="1" smtClean="0"/>
              <a:t>sysfs</a:t>
            </a:r>
            <a:r>
              <a:rPr lang="en-US" dirty="0" smtClean="0"/>
              <a:t> entry through a root shell (</a:t>
            </a:r>
            <a:r>
              <a:rPr lang="en-US" dirty="0" err="1" smtClean="0"/>
              <a:t>sudo</a:t>
            </a:r>
            <a:r>
              <a:rPr lang="en-US" dirty="0" smtClean="0"/>
              <a:t> bash)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# echo ds1307 0x68 &gt; /sys/class/i2c-adapter/i2c-1/</a:t>
            </a:r>
            <a:r>
              <a:rPr lang="en-US" dirty="0" err="1" smtClean="0"/>
              <a:t>new_device</a:t>
            </a:r>
            <a:endParaRPr lang="en-US" dirty="0" smtClean="0"/>
          </a:p>
          <a:p>
            <a:r>
              <a:rPr lang="en-US" dirty="0" smtClean="0"/>
              <a:t>Check current </a:t>
            </a:r>
            <a:r>
              <a:rPr lang="en-US" dirty="0" err="1" smtClean="0"/>
              <a:t>hwclock</a:t>
            </a:r>
            <a:r>
              <a:rPr lang="en-US" dirty="0" smtClean="0"/>
              <a:t> time:</a:t>
            </a:r>
          </a:p>
          <a:p>
            <a:pPr marL="0" indent="0">
              <a:buNone/>
            </a:pPr>
            <a:r>
              <a:rPr lang="en-US" dirty="0" smtClean="0"/>
              <a:t>      #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hwclock</a:t>
            </a:r>
            <a:r>
              <a:rPr lang="en-US" dirty="0" smtClean="0"/>
              <a:t> –r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-&gt; this shows a random time (this is the Pi’s </a:t>
            </a:r>
            <a:r>
              <a:rPr lang="en-US" dirty="0" err="1" smtClean="0"/>
              <a:t>hwclock</a:t>
            </a:r>
            <a:r>
              <a:rPr lang="en-US" dirty="0"/>
              <a:t> </a:t>
            </a:r>
            <a:r>
              <a:rPr lang="en-US" dirty="0" smtClean="0"/>
              <a:t>on the RTC chip)</a:t>
            </a:r>
          </a:p>
        </p:txBody>
      </p:sp>
    </p:spTree>
    <p:extLst>
      <p:ext uri="{BB962C8B-B14F-4D97-AF65-F5344CB8AC3E}">
        <p14:creationId xmlns:p14="http://schemas.microsoft.com/office/powerpoint/2010/main" val="176412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Raspi</a:t>
            </a:r>
            <a:r>
              <a:rPr lang="en-US" dirty="0"/>
              <a:t> Time: I</a:t>
            </a:r>
            <a:r>
              <a:rPr lang="en-US" baseline="30000" dirty="0"/>
              <a:t>2</a:t>
            </a:r>
            <a:r>
              <a:rPr lang="en-US" dirty="0"/>
              <a:t>C </a:t>
            </a:r>
            <a:r>
              <a:rPr lang="en-US" dirty="0" smtClean="0"/>
              <a:t>RTC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</a:t>
            </a:r>
            <a:r>
              <a:rPr lang="en-US" dirty="0" smtClean="0"/>
              <a:t>the time on Pi, and save </a:t>
            </a:r>
            <a:r>
              <a:rPr lang="en-US" dirty="0"/>
              <a:t>it to the RTC chip</a:t>
            </a:r>
          </a:p>
          <a:p>
            <a:pPr marL="0" indent="0">
              <a:buNone/>
            </a:pPr>
            <a:r>
              <a:rPr lang="en-US" dirty="0"/>
              <a:t>      #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hwclock</a:t>
            </a:r>
            <a:r>
              <a:rPr lang="en-US" dirty="0"/>
              <a:t> –w</a:t>
            </a:r>
          </a:p>
          <a:p>
            <a:pPr marL="0" indent="0">
              <a:buNone/>
            </a:pPr>
            <a:r>
              <a:rPr lang="en-US" dirty="0"/>
              <a:t>	-&gt; Now the RTC chip will </a:t>
            </a:r>
            <a:r>
              <a:rPr lang="en-US" dirty="0" smtClean="0"/>
              <a:t>remember this </a:t>
            </a:r>
            <a:r>
              <a:rPr lang="en-US" dirty="0"/>
              <a:t>time!</a:t>
            </a:r>
          </a:p>
          <a:p>
            <a:r>
              <a:rPr lang="en-US" dirty="0"/>
              <a:t>Make the module load at boot-time by adding it (rtc-ds1307) to /</a:t>
            </a:r>
            <a:r>
              <a:rPr lang="en-US" dirty="0" err="1"/>
              <a:t>etc</a:t>
            </a:r>
            <a:r>
              <a:rPr lang="en-US" dirty="0"/>
              <a:t>/modules</a:t>
            </a:r>
          </a:p>
          <a:p>
            <a:r>
              <a:rPr lang="en-US" dirty="0"/>
              <a:t>Also, make the Pi load its hardware clock </a:t>
            </a:r>
            <a:r>
              <a:rPr lang="en-US" dirty="0" smtClean="0"/>
              <a:t>every time </a:t>
            </a:r>
            <a:r>
              <a:rPr lang="en-US" dirty="0"/>
              <a:t>it boots by adding entries to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init.d</a:t>
            </a:r>
            <a:r>
              <a:rPr lang="en-US" dirty="0"/>
              <a:t>/</a:t>
            </a:r>
            <a:r>
              <a:rPr lang="en-US" dirty="0" err="1"/>
              <a:t>rc.local</a:t>
            </a:r>
            <a:endParaRPr lang="en-US" dirty="0"/>
          </a:p>
          <a:p>
            <a:pPr marL="0" indent="0">
              <a:buNone/>
            </a:pPr>
            <a:r>
              <a:rPr lang="en-US" sz="2200" b="1" dirty="0" smtClean="0"/>
              <a:t>    echo </a:t>
            </a:r>
            <a:r>
              <a:rPr lang="en-US" sz="2200" b="1" dirty="0"/>
              <a:t>ds1307 0x68 &gt; /sys/class/i2c-adapter/i2c-1/</a:t>
            </a:r>
            <a:r>
              <a:rPr lang="en-US" sz="2200" b="1" dirty="0" err="1"/>
              <a:t>new_device</a:t>
            </a:r>
            <a:endParaRPr lang="en-US" sz="2200" b="1" dirty="0"/>
          </a:p>
          <a:p>
            <a:pPr marL="0" indent="0">
              <a:buNone/>
            </a:pPr>
            <a:r>
              <a:rPr lang="en-US" sz="2200" b="1" dirty="0" smtClean="0"/>
              <a:t>    </a:t>
            </a:r>
            <a:r>
              <a:rPr lang="en-US" sz="2200" b="1" dirty="0" err="1" smtClean="0"/>
              <a:t>sudo</a:t>
            </a:r>
            <a:r>
              <a:rPr lang="en-US" sz="2200" b="1" dirty="0" smtClean="0"/>
              <a:t> </a:t>
            </a:r>
            <a:r>
              <a:rPr lang="en-US" sz="2200" b="1" dirty="0" err="1"/>
              <a:t>hwclock</a:t>
            </a:r>
            <a:r>
              <a:rPr lang="en-US" sz="2200" b="1" dirty="0"/>
              <a:t> -</a:t>
            </a:r>
            <a:r>
              <a:rPr lang="en-US" sz="2200" b="1" dirty="0" smtClean="0"/>
              <a:t>s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60155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GPU - probing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vcgencmd</a:t>
            </a:r>
            <a:r>
              <a:rPr lang="en-US" dirty="0" smtClean="0"/>
              <a:t> – a utility to probe and get various information about the board, in particular the ARM, SDRAM and GPU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version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commands (not all are documented!)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get_lcd_info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measure_clock</a:t>
            </a:r>
            <a:r>
              <a:rPr lang="en-US" dirty="0" smtClean="0"/>
              <a:t> …</a:t>
            </a:r>
          </a:p>
          <a:p>
            <a:pPr marL="393192" lvl="1" indent="0">
              <a:buNone/>
            </a:pPr>
            <a:r>
              <a:rPr lang="en-US" dirty="0"/>
              <a:t>	</a:t>
            </a:r>
            <a:r>
              <a:rPr lang="en-US" dirty="0" smtClean="0"/>
              <a:t>- options: arm, core, h264, </a:t>
            </a:r>
            <a:r>
              <a:rPr lang="en-US" dirty="0" err="1" smtClean="0"/>
              <a:t>uart</a:t>
            </a:r>
            <a:r>
              <a:rPr lang="en-US" dirty="0" smtClean="0"/>
              <a:t>, </a:t>
            </a:r>
            <a:r>
              <a:rPr lang="en-US" dirty="0" err="1" smtClean="0"/>
              <a:t>hdmi</a:t>
            </a:r>
            <a:r>
              <a:rPr lang="en-US" dirty="0" smtClean="0"/>
              <a:t>, </a:t>
            </a:r>
            <a:r>
              <a:rPr lang="en-US" dirty="0" err="1" smtClean="0"/>
              <a:t>emmc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measure_volts</a:t>
            </a:r>
            <a:r>
              <a:rPr lang="en-US" dirty="0" smtClean="0"/>
              <a:t> …</a:t>
            </a:r>
          </a:p>
          <a:p>
            <a:pPr marL="393192" lvl="1" indent="0">
              <a:buNone/>
            </a:pPr>
            <a:r>
              <a:rPr lang="en-US" dirty="0"/>
              <a:t>	</a:t>
            </a:r>
            <a:r>
              <a:rPr lang="en-US" dirty="0" smtClean="0"/>
              <a:t>- options: core, </a:t>
            </a:r>
            <a:r>
              <a:rPr lang="en-US" dirty="0" err="1" smtClean="0"/>
              <a:t>sdram_c</a:t>
            </a:r>
            <a:r>
              <a:rPr lang="en-US" dirty="0" smtClean="0"/>
              <a:t>, </a:t>
            </a:r>
            <a:r>
              <a:rPr lang="en-US" dirty="0" err="1" smtClean="0"/>
              <a:t>sdram_i</a:t>
            </a:r>
            <a:r>
              <a:rPr lang="en-US" dirty="0" smtClean="0"/>
              <a:t>, </a:t>
            </a:r>
            <a:r>
              <a:rPr lang="en-US" dirty="0" err="1" smtClean="0"/>
              <a:t>sdram_p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measure_temp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get_mem</a:t>
            </a:r>
            <a:r>
              <a:rPr lang="en-US" dirty="0" smtClean="0"/>
              <a:t> …</a:t>
            </a:r>
          </a:p>
          <a:p>
            <a:pPr marL="393192" lvl="1" indent="0">
              <a:buNone/>
            </a:pPr>
            <a:r>
              <a:rPr lang="en-US" dirty="0"/>
              <a:t>	</a:t>
            </a:r>
            <a:r>
              <a:rPr lang="en-US" dirty="0" smtClean="0"/>
              <a:t>- options: arm, </a:t>
            </a:r>
            <a:r>
              <a:rPr lang="en-US" dirty="0" err="1" smtClean="0"/>
              <a:t>gpu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codec_enabled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/>
              <a:t>	</a:t>
            </a:r>
            <a:r>
              <a:rPr lang="en-US" dirty="0" smtClean="0"/>
              <a:t>- options: </a:t>
            </a:r>
            <a:r>
              <a:rPr lang="en-US" dirty="0" smtClean="0">
                <a:solidFill>
                  <a:srgbClr val="FF0000"/>
                </a:solidFill>
              </a:rPr>
              <a:t>MPG2*</a:t>
            </a:r>
            <a:r>
              <a:rPr lang="en-US" dirty="0" smtClean="0"/>
              <a:t>, H264, </a:t>
            </a:r>
            <a:r>
              <a:rPr lang="en-US" dirty="0" smtClean="0">
                <a:solidFill>
                  <a:srgbClr val="FF0000"/>
                </a:solidFill>
              </a:rPr>
              <a:t>WVC1*</a:t>
            </a:r>
            <a:r>
              <a:rPr lang="en-US" dirty="0" smtClean="0"/>
              <a:t>, MPG4, MJPG, </a:t>
            </a:r>
            <a:r>
              <a:rPr lang="en-US" dirty="0" smtClean="0">
                <a:solidFill>
                  <a:srgbClr val="FF0000"/>
                </a:solidFill>
              </a:rPr>
              <a:t>WMV9*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vcgencmd</a:t>
            </a:r>
            <a:r>
              <a:rPr lang="en-US" dirty="0" smtClean="0"/>
              <a:t> </a:t>
            </a:r>
            <a:r>
              <a:rPr lang="en-US" dirty="0" err="1" smtClean="0"/>
              <a:t>otp_dump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/>
              <a:t>	</a:t>
            </a:r>
            <a:r>
              <a:rPr lang="en-US" dirty="0" smtClean="0"/>
              <a:t>- locations 28 and 30 contain Serial and Revision #’s</a:t>
            </a:r>
          </a:p>
          <a:p>
            <a:pPr marL="393192" lvl="1" indent="0">
              <a:buNone/>
            </a:pPr>
            <a:endParaRPr lang="en-US" dirty="0"/>
          </a:p>
          <a:p>
            <a:pPr marL="393192" lvl="1" indent="0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* Codecs’ licenses need to be purchased from Pi Store on a per unit basis</a:t>
            </a:r>
          </a:p>
          <a:p>
            <a:pPr marL="393192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7197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GPU /opt/</a:t>
            </a:r>
            <a:r>
              <a:rPr lang="en-US" dirty="0" err="1" smtClean="0"/>
              <a:t>vc</a:t>
            </a:r>
            <a:r>
              <a:rPr lang="en-US" dirty="0" smtClean="0"/>
              <a:t> </a:t>
            </a:r>
            <a:r>
              <a:rPr lang="en-US" dirty="0" err="1" smtClean="0"/>
              <a:t>utils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/opt/</a:t>
            </a:r>
            <a:r>
              <a:rPr lang="en-US" dirty="0" err="1" smtClean="0"/>
              <a:t>vc</a:t>
            </a:r>
            <a:r>
              <a:rPr lang="en-US" dirty="0" smtClean="0"/>
              <a:t>/</a:t>
            </a:r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hello_pi</a:t>
            </a:r>
            <a:r>
              <a:rPr lang="en-US" dirty="0" smtClean="0"/>
              <a:t> contains Broadcom released sample code for GPU</a:t>
            </a:r>
          </a:p>
          <a:p>
            <a:pPr lvl="1"/>
            <a:r>
              <a:rPr lang="en-US" dirty="0" err="1" smtClean="0"/>
              <a:t>hello_world</a:t>
            </a:r>
            <a:endParaRPr lang="en-US" dirty="0"/>
          </a:p>
          <a:p>
            <a:pPr lvl="1"/>
            <a:r>
              <a:rPr lang="en-US" dirty="0" err="1" smtClean="0"/>
              <a:t>hello_triangle</a:t>
            </a:r>
            <a:r>
              <a:rPr lang="en-US" dirty="0" smtClean="0"/>
              <a:t>, hello_triangle2</a:t>
            </a:r>
          </a:p>
          <a:p>
            <a:pPr lvl="1"/>
            <a:r>
              <a:rPr lang="en-US" dirty="0" err="1" smtClean="0"/>
              <a:t>hello_teapot</a:t>
            </a:r>
            <a:r>
              <a:rPr lang="en-US" dirty="0" smtClean="0"/>
              <a:t>, </a:t>
            </a:r>
            <a:r>
              <a:rPr lang="en-US" dirty="0" err="1" smtClean="0"/>
              <a:t>hello_videocube</a:t>
            </a:r>
            <a:r>
              <a:rPr lang="en-US" dirty="0" smtClean="0"/>
              <a:t>, </a:t>
            </a:r>
            <a:r>
              <a:rPr lang="en-US" dirty="0" err="1" smtClean="0"/>
              <a:t>hello_tiger</a:t>
            </a:r>
            <a:endParaRPr lang="en-US" dirty="0" smtClean="0"/>
          </a:p>
          <a:p>
            <a:r>
              <a:rPr lang="en-US" dirty="0" smtClean="0"/>
              <a:t>By default, </a:t>
            </a:r>
            <a:r>
              <a:rPr lang="en-US" dirty="0" err="1" smtClean="0"/>
              <a:t>gpu_mem</a:t>
            </a:r>
            <a:r>
              <a:rPr lang="en-US" dirty="0" smtClean="0"/>
              <a:t> is set to 64M (very low)</a:t>
            </a:r>
          </a:p>
          <a:p>
            <a:pPr lvl="1"/>
            <a:r>
              <a:rPr lang="en-US" dirty="0" smtClean="0"/>
              <a:t>Causes high-end graphics like </a:t>
            </a:r>
            <a:r>
              <a:rPr lang="en-US" dirty="0" err="1" smtClean="0"/>
              <a:t>hello_teapot</a:t>
            </a:r>
            <a:r>
              <a:rPr lang="en-US" dirty="0" smtClean="0"/>
              <a:t> fail</a:t>
            </a:r>
          </a:p>
          <a:p>
            <a:r>
              <a:rPr lang="en-US" dirty="0" smtClean="0"/>
              <a:t>Sharing of 1GB SDRAM between ARM and GPU is controlled at boot-time by /boot/config.txt (</a:t>
            </a:r>
            <a:r>
              <a:rPr lang="en-US" dirty="0" err="1" smtClean="0"/>
              <a:t>gpu_mem</a:t>
            </a:r>
            <a:r>
              <a:rPr lang="en-US" dirty="0" smtClean="0"/>
              <a:t>=?)</a:t>
            </a:r>
          </a:p>
          <a:p>
            <a:pPr lvl="1"/>
            <a:r>
              <a:rPr lang="en-US" dirty="0" smtClean="0"/>
              <a:t>Change “</a:t>
            </a:r>
            <a:r>
              <a:rPr lang="en-US" dirty="0" err="1" smtClean="0"/>
              <a:t>gpu_mem</a:t>
            </a:r>
            <a:r>
              <a:rPr lang="en-US" dirty="0" smtClean="0"/>
              <a:t>” to higher value (say 512) and reboot</a:t>
            </a:r>
          </a:p>
          <a:p>
            <a:r>
              <a:rPr lang="en-US" dirty="0" smtClean="0"/>
              <a:t>Now </a:t>
            </a:r>
            <a:r>
              <a:rPr lang="en-US" dirty="0" err="1" smtClean="0"/>
              <a:t>vc</a:t>
            </a:r>
            <a:r>
              <a:rPr lang="en-US" dirty="0" smtClean="0"/>
              <a:t> </a:t>
            </a:r>
            <a:r>
              <a:rPr lang="en-US" dirty="0" err="1" smtClean="0"/>
              <a:t>utils</a:t>
            </a:r>
            <a:r>
              <a:rPr lang="en-US" dirty="0" smtClean="0"/>
              <a:t> sample codes should run “better”</a:t>
            </a:r>
          </a:p>
          <a:p>
            <a:pPr lvl="1"/>
            <a:r>
              <a:rPr lang="en-US" dirty="0" smtClean="0"/>
              <a:t>Also, note the output of </a:t>
            </a:r>
            <a:r>
              <a:rPr lang="en-US" b="1" i="1" dirty="0" err="1" smtClean="0"/>
              <a:t>vcgencmd</a:t>
            </a:r>
            <a:r>
              <a:rPr lang="en-US" b="1" i="1" dirty="0" smtClean="0"/>
              <a:t> </a:t>
            </a:r>
            <a:r>
              <a:rPr lang="en-US" b="1" i="1" dirty="0" err="1" smtClean="0"/>
              <a:t>get_mem</a:t>
            </a:r>
            <a:r>
              <a:rPr lang="en-US" b="1" i="1" dirty="0" smtClean="0"/>
              <a:t> arm/</a:t>
            </a:r>
            <a:r>
              <a:rPr lang="en-US" b="1" i="1" dirty="0" err="1" smtClean="0"/>
              <a:t>gpu</a:t>
            </a:r>
            <a:r>
              <a:rPr lang="en-US" dirty="0" smtClean="0"/>
              <a:t> now!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53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AV playback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 playback can use either the ARM or the GPU</a:t>
            </a:r>
          </a:p>
          <a:p>
            <a:pPr lvl="1"/>
            <a:r>
              <a:rPr lang="en-US" dirty="0" smtClean="0"/>
              <a:t>Typical software media players (like </a:t>
            </a:r>
            <a:r>
              <a:rPr lang="en-US" dirty="0" err="1" smtClean="0"/>
              <a:t>mplayer</a:t>
            </a:r>
            <a:r>
              <a:rPr lang="en-US" smtClean="0"/>
              <a:t> or VLC) </a:t>
            </a:r>
            <a:r>
              <a:rPr lang="en-US" dirty="0" smtClean="0"/>
              <a:t>use the ARM</a:t>
            </a:r>
          </a:p>
          <a:p>
            <a:pPr lvl="1"/>
            <a:r>
              <a:rPr lang="en-US" dirty="0" smtClean="0"/>
              <a:t>Dedicated media players like </a:t>
            </a:r>
            <a:r>
              <a:rPr lang="en-US" dirty="0" err="1" smtClean="0"/>
              <a:t>omxplayer</a:t>
            </a:r>
            <a:r>
              <a:rPr lang="en-US" dirty="0" smtClean="0"/>
              <a:t> use the GPU</a:t>
            </a:r>
          </a:p>
          <a:p>
            <a:r>
              <a:rPr lang="en-US" dirty="0" smtClean="0"/>
              <a:t>Demonstrate the difference in playback experience and ARM CPU usage using the 2 different types of players</a:t>
            </a:r>
          </a:p>
          <a:p>
            <a:pPr lvl="1"/>
            <a:r>
              <a:rPr lang="en-US" b="1" dirty="0" err="1"/>
              <a:t>o</a:t>
            </a:r>
            <a:r>
              <a:rPr lang="en-US" b="1" dirty="0" err="1" smtClean="0"/>
              <a:t>mxplayer</a:t>
            </a:r>
            <a:r>
              <a:rPr lang="en-US" b="1" dirty="0" smtClean="0"/>
              <a:t> –o </a:t>
            </a:r>
            <a:r>
              <a:rPr lang="en-US" b="1" dirty="0" err="1" smtClean="0"/>
              <a:t>hdmi</a:t>
            </a:r>
            <a:r>
              <a:rPr lang="en-US" b="1" dirty="0" smtClean="0"/>
              <a:t>/local/both &lt;</a:t>
            </a:r>
            <a:r>
              <a:rPr lang="en-US" b="1" dirty="0" err="1" smtClean="0"/>
              <a:t>file_name</a:t>
            </a:r>
            <a:r>
              <a:rPr lang="en-US" b="1" dirty="0" smtClean="0"/>
              <a:t>&gt;</a:t>
            </a:r>
          </a:p>
          <a:p>
            <a:pPr marL="667512" lvl="2" indent="0">
              <a:buNone/>
            </a:pPr>
            <a:r>
              <a:rPr lang="en-US" b="1" dirty="0"/>
              <a:t>	</a:t>
            </a:r>
            <a:r>
              <a:rPr lang="en-US" dirty="0" smtClean="0"/>
              <a:t>controls audio output from chosen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69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: Media Server (</a:t>
            </a:r>
            <a:r>
              <a:rPr lang="en-US" dirty="0" err="1" smtClean="0"/>
              <a:t>Kodi</a:t>
            </a:r>
            <a:r>
              <a:rPr lang="en-US" dirty="0" smtClean="0"/>
              <a:t> / OSMC)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OSMC is a full-blown dedicated and optimized Linux distribution dedicated to Media Server Application</a:t>
            </a:r>
          </a:p>
          <a:p>
            <a:pPr lvl="1"/>
            <a:r>
              <a:rPr lang="en-US" dirty="0" smtClean="0"/>
              <a:t>Demo of </a:t>
            </a:r>
            <a:r>
              <a:rPr lang="en-US" dirty="0" err="1" smtClean="0"/>
              <a:t>Raspi</a:t>
            </a:r>
            <a:r>
              <a:rPr lang="en-US" dirty="0" smtClean="0"/>
              <a:t> running OSMC</a:t>
            </a:r>
          </a:p>
          <a:p>
            <a:pPr lvl="1"/>
            <a:r>
              <a:rPr lang="en-US" dirty="0" smtClean="0"/>
              <a:t>Demo of </a:t>
            </a:r>
            <a:r>
              <a:rPr lang="en-US" dirty="0" err="1" smtClean="0"/>
              <a:t>Raspi</a:t>
            </a:r>
            <a:r>
              <a:rPr lang="en-US" dirty="0" smtClean="0"/>
              <a:t> running audio and video from an attached USB stick</a:t>
            </a:r>
          </a:p>
          <a:p>
            <a:r>
              <a:rPr lang="en-US" dirty="0" err="1" smtClean="0"/>
              <a:t>Kodi</a:t>
            </a:r>
            <a:r>
              <a:rPr lang="en-US" dirty="0" smtClean="0"/>
              <a:t> is an application for a media </a:t>
            </a:r>
            <a:r>
              <a:rPr lang="en-US" dirty="0" err="1" smtClean="0"/>
              <a:t>centre</a:t>
            </a:r>
            <a:endParaRPr lang="en-US" dirty="0" smtClean="0"/>
          </a:p>
          <a:p>
            <a:pPr lvl="1"/>
            <a:r>
              <a:rPr lang="en-US" dirty="0" smtClean="0"/>
              <a:t>Concept of add-ons</a:t>
            </a:r>
          </a:p>
          <a:p>
            <a:pPr lvl="1"/>
            <a:r>
              <a:rPr lang="en-US" dirty="0" smtClean="0"/>
              <a:t>Demos</a:t>
            </a:r>
          </a:p>
          <a:p>
            <a:pPr lvl="1"/>
            <a:r>
              <a:rPr lang="en-US" dirty="0" smtClean="0"/>
              <a:t>It’s possible to hook up an IR sensor (receiver) and control media playback using standard IR remote</a:t>
            </a:r>
          </a:p>
          <a:p>
            <a:pPr lvl="2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kodi.wiki/view/Raspberry_Pi#Remote_controls</a:t>
            </a:r>
            <a:endParaRPr lang="en-US" dirty="0" smtClean="0"/>
          </a:p>
          <a:p>
            <a:pPr marL="667512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9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: </a:t>
            </a:r>
            <a:r>
              <a:rPr lang="en-US" dirty="0" err="1" smtClean="0"/>
              <a:t>GrovePi</a:t>
            </a:r>
            <a:r>
              <a:rPr lang="en-US" dirty="0" smtClean="0"/>
              <a:t>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interface all Grove Sensors to the Pi using the </a:t>
            </a:r>
            <a:r>
              <a:rPr lang="en-US" b="1" dirty="0" err="1" smtClean="0"/>
              <a:t>GrovePi</a:t>
            </a:r>
            <a:r>
              <a:rPr lang="en-US" b="1" dirty="0" smtClean="0"/>
              <a:t>+</a:t>
            </a:r>
            <a:r>
              <a:rPr lang="en-US" dirty="0" smtClean="0"/>
              <a:t> board</a:t>
            </a:r>
          </a:p>
          <a:p>
            <a:pPr lvl="1"/>
            <a:r>
              <a:rPr lang="en-US" dirty="0" err="1" smtClean="0"/>
              <a:t>GrovePi</a:t>
            </a:r>
            <a:r>
              <a:rPr lang="en-US" dirty="0" smtClean="0"/>
              <a:t>+ is an Atmel microcontroller powered board with 15 4-pin interfaces ranging from digital to analog to buses like i2c and SPI</a:t>
            </a:r>
          </a:p>
          <a:p>
            <a:pPr lvl="1"/>
            <a:r>
              <a:rPr lang="en-US" dirty="0" smtClean="0"/>
              <a:t>Fast SPI and reliable UART connections</a:t>
            </a:r>
          </a:p>
          <a:p>
            <a:pPr lvl="1"/>
            <a:r>
              <a:rPr lang="en-US" dirty="0" smtClean="0"/>
              <a:t>Easy to assemble with ready-made well-defined cables</a:t>
            </a:r>
          </a:p>
          <a:p>
            <a:pPr lvl="1"/>
            <a:r>
              <a:rPr lang="en-US" dirty="0" smtClean="0"/>
              <a:t>Simplified firmware update (Atmel)</a:t>
            </a:r>
          </a:p>
          <a:p>
            <a:pPr lvl="2"/>
            <a:r>
              <a:rPr lang="en-US" dirty="0" err="1" smtClean="0"/>
              <a:t>Raspi</a:t>
            </a:r>
            <a:r>
              <a:rPr lang="en-US" dirty="0" smtClean="0"/>
              <a:t> and Atmel talk over i2c, using </a:t>
            </a:r>
            <a:r>
              <a:rPr lang="en-US" dirty="0" err="1" smtClean="0"/>
              <a:t>avr</a:t>
            </a:r>
            <a:r>
              <a:rPr lang="en-US" dirty="0" smtClean="0"/>
              <a:t> </a:t>
            </a:r>
            <a:r>
              <a:rPr lang="en-US" dirty="0" err="1" smtClean="0"/>
              <a:t>toolchains</a:t>
            </a:r>
            <a:r>
              <a:rPr lang="en-US" dirty="0" smtClean="0"/>
              <a:t> and utilities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508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</a:t>
            </a:r>
            <a:r>
              <a:rPr lang="en-US" dirty="0" err="1"/>
              <a:t>G</a:t>
            </a:r>
            <a:r>
              <a:rPr lang="en-US" dirty="0" err="1" smtClean="0"/>
              <a:t>rovePi</a:t>
            </a:r>
            <a:r>
              <a:rPr lang="en-US" dirty="0" smtClean="0"/>
              <a:t>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 not attached the </a:t>
            </a:r>
            <a:r>
              <a:rPr lang="en-US" dirty="0" err="1" smtClean="0"/>
              <a:t>GrovePi</a:t>
            </a:r>
            <a:r>
              <a:rPr lang="en-US" dirty="0" smtClean="0"/>
              <a:t> to the Pi yet!</a:t>
            </a:r>
          </a:p>
          <a:p>
            <a:r>
              <a:rPr lang="en-US" dirty="0" smtClean="0"/>
              <a:t>Get the </a:t>
            </a:r>
            <a:r>
              <a:rPr lang="en-US" dirty="0" err="1" smtClean="0"/>
              <a:t>GrovePi</a:t>
            </a:r>
            <a:r>
              <a:rPr lang="en-US" dirty="0" smtClean="0"/>
              <a:t> framework</a:t>
            </a:r>
          </a:p>
          <a:p>
            <a:pPr marL="393192" lvl="1" indent="0">
              <a:buNone/>
            </a:pPr>
            <a:r>
              <a:rPr lang="en-US" dirty="0" err="1"/>
              <a:t>git</a:t>
            </a:r>
            <a:r>
              <a:rPr lang="en-US" dirty="0"/>
              <a:t> clone 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github.com/DexterInd/GrovePi</a:t>
            </a:r>
            <a:endParaRPr lang="en-US" dirty="0" smtClean="0"/>
          </a:p>
          <a:p>
            <a:r>
              <a:rPr lang="en-US" dirty="0" smtClean="0"/>
              <a:t>Run the installer from </a:t>
            </a:r>
            <a:r>
              <a:rPr lang="en-US" dirty="0" err="1" smtClean="0"/>
              <a:t>GrovePi</a:t>
            </a:r>
            <a:r>
              <a:rPr lang="en-US" dirty="0" smtClean="0"/>
              <a:t>/Scripts</a:t>
            </a:r>
          </a:p>
          <a:p>
            <a:pPr marL="393192" lvl="1" indent="0">
              <a:buNone/>
            </a:pPr>
            <a:r>
              <a:rPr lang="en-US" dirty="0" smtClean="0"/>
              <a:t>$ </a:t>
            </a:r>
            <a:r>
              <a:rPr lang="en-US" dirty="0" err="1" smtClean="0"/>
              <a:t>chmod</a:t>
            </a:r>
            <a:r>
              <a:rPr lang="en-US" dirty="0" smtClean="0"/>
              <a:t> +x install.sh &amp;&amp; </a:t>
            </a:r>
            <a:r>
              <a:rPr lang="en-US" dirty="0" err="1" smtClean="0"/>
              <a:t>sudo</a:t>
            </a:r>
            <a:r>
              <a:rPr lang="en-US" dirty="0" smtClean="0"/>
              <a:t> ./install.sh</a:t>
            </a:r>
          </a:p>
          <a:p>
            <a:r>
              <a:rPr lang="en-US" dirty="0" smtClean="0"/>
              <a:t>The Pi will reboot. Now attach the </a:t>
            </a:r>
            <a:r>
              <a:rPr lang="en-US" dirty="0" err="1" smtClean="0"/>
              <a:t>GrovePi</a:t>
            </a:r>
            <a:endParaRPr lang="en-US" dirty="0" smtClean="0"/>
          </a:p>
          <a:p>
            <a:r>
              <a:rPr lang="en-US" dirty="0" err="1" smtClean="0"/>
              <a:t>GrovePi’s</a:t>
            </a:r>
            <a:r>
              <a:rPr lang="en-US" dirty="0" smtClean="0"/>
              <a:t> Green Led should now start glowing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$ </a:t>
            </a:r>
            <a:r>
              <a:rPr lang="en-US" dirty="0" err="1" smtClean="0"/>
              <a:t>sudo</a:t>
            </a:r>
            <a:r>
              <a:rPr lang="en-US" dirty="0" smtClean="0"/>
              <a:t> i2cdetect –y 1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-&gt; should now show 0x04 (</a:t>
            </a:r>
            <a:r>
              <a:rPr lang="en-US" dirty="0" err="1" smtClean="0"/>
              <a:t>GrovePi’s</a:t>
            </a:r>
            <a:r>
              <a:rPr lang="en-US" dirty="0" smtClean="0"/>
              <a:t> address)</a:t>
            </a:r>
          </a:p>
        </p:txBody>
      </p:sp>
    </p:spTree>
    <p:extLst>
      <p:ext uri="{BB962C8B-B14F-4D97-AF65-F5344CB8AC3E}">
        <p14:creationId xmlns:p14="http://schemas.microsoft.com/office/powerpoint/2010/main" val="1463247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</a:t>
            </a:r>
            <a:r>
              <a:rPr lang="en-US" dirty="0" err="1" smtClean="0"/>
              <a:t>GrovePi</a:t>
            </a:r>
            <a:r>
              <a:rPr lang="en-US" dirty="0" smtClean="0"/>
              <a:t>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/>
              <a:t>GrovePi</a:t>
            </a:r>
            <a:r>
              <a:rPr lang="en-US" dirty="0" smtClean="0"/>
              <a:t> has a ready-to-use Python-based software library for interfacing a variety of sensors (in </a:t>
            </a:r>
            <a:r>
              <a:rPr lang="en-US" dirty="0" err="1" smtClean="0"/>
              <a:t>GrovePi</a:t>
            </a:r>
            <a:r>
              <a:rPr lang="en-US" dirty="0" smtClean="0"/>
              <a:t>/Software/Python)</a:t>
            </a:r>
          </a:p>
          <a:p>
            <a:pPr lvl="1"/>
            <a:r>
              <a:rPr lang="en-US" dirty="0" smtClean="0"/>
              <a:t>Button (grove_button.py)</a:t>
            </a:r>
          </a:p>
          <a:p>
            <a:pPr lvl="1"/>
            <a:r>
              <a:rPr lang="en-US" dirty="0" smtClean="0"/>
              <a:t>Buzzer (grover_buzzer.py)</a:t>
            </a:r>
          </a:p>
          <a:p>
            <a:pPr lvl="2"/>
            <a:r>
              <a:rPr lang="en-US" dirty="0" smtClean="0"/>
              <a:t>Button &amp; Buzzer – Let’s learn some Python!</a:t>
            </a:r>
          </a:p>
          <a:p>
            <a:pPr lvl="1"/>
            <a:r>
              <a:rPr lang="en-US" dirty="0" smtClean="0"/>
              <a:t>Thumb-joystick (grove_thumb_joystick.py)</a:t>
            </a:r>
          </a:p>
          <a:p>
            <a:pPr lvl="1"/>
            <a:r>
              <a:rPr lang="en-US" dirty="0" smtClean="0"/>
              <a:t>4-digit display (grove_4_digit_display.py)</a:t>
            </a:r>
          </a:p>
          <a:p>
            <a:pPr lvl="2"/>
            <a:r>
              <a:rPr lang="en-US" dirty="0" smtClean="0"/>
              <a:t>Might need a firmware update </a:t>
            </a:r>
          </a:p>
          <a:p>
            <a:pPr marL="667512" lvl="2" indent="0">
              <a:buNone/>
            </a:pPr>
            <a:r>
              <a:rPr lang="en-US" dirty="0" smtClean="0"/>
              <a:t>$ ./firmware_update.sh (in </a:t>
            </a:r>
            <a:r>
              <a:rPr lang="en-US" dirty="0" err="1" smtClean="0"/>
              <a:t>GrovePi</a:t>
            </a:r>
            <a:r>
              <a:rPr lang="en-US" dirty="0" smtClean="0"/>
              <a:t>/Firmware/)</a:t>
            </a:r>
          </a:p>
          <a:p>
            <a:pPr lvl="1"/>
            <a:r>
              <a:rPr lang="en-US" dirty="0" smtClean="0"/>
              <a:t>Temperature (grove_temperature_sensor.py)</a:t>
            </a:r>
          </a:p>
          <a:p>
            <a:pPr lvl="2"/>
            <a:r>
              <a:rPr lang="en-US" dirty="0" smtClean="0"/>
              <a:t>Check sensor version #!</a:t>
            </a:r>
          </a:p>
          <a:p>
            <a:pPr lvl="1"/>
            <a:r>
              <a:rPr lang="en-US" dirty="0"/>
              <a:t>3-axis accelerometer (</a:t>
            </a:r>
            <a:r>
              <a:rPr lang="en-US" dirty="0" smtClean="0"/>
              <a:t>grove_i2c_accelerometer.py)</a:t>
            </a:r>
          </a:p>
          <a:p>
            <a:pPr lvl="1"/>
            <a:r>
              <a:rPr lang="en-US" dirty="0" smtClean="0"/>
              <a:t>Touch (grove_touch_sensor.py)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 Oscilloscope: </a:t>
            </a:r>
            <a:r>
              <a:rPr lang="en-US" dirty="0" err="1" smtClean="0"/>
              <a:t>Piscope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Raspi</a:t>
            </a:r>
            <a:r>
              <a:rPr lang="en-US" dirty="0" smtClean="0"/>
              <a:t> board can be used as a low-end digital oscilloscope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abyz.co.uk/rpi/pigpio/piscope.html</a:t>
            </a:r>
            <a:endParaRPr lang="en-US" dirty="0" smtClean="0"/>
          </a:p>
          <a:p>
            <a:r>
              <a:rPr lang="en-US" dirty="0" smtClean="0"/>
              <a:t>Uses the </a:t>
            </a:r>
            <a:r>
              <a:rPr lang="en-US" b="1" dirty="0" err="1" smtClean="0"/>
              <a:t>pigpiod</a:t>
            </a:r>
            <a:r>
              <a:rPr lang="en-US" dirty="0" smtClean="0"/>
              <a:t> </a:t>
            </a:r>
            <a:r>
              <a:rPr lang="en-US" i="1" dirty="0" smtClean="0"/>
              <a:t>daemon</a:t>
            </a:r>
            <a:r>
              <a:rPr lang="en-US" dirty="0" smtClean="0"/>
              <a:t>, collects signals on the GPIO pins, displays them graphically</a:t>
            </a:r>
          </a:p>
          <a:p>
            <a:r>
              <a:rPr lang="en-US" dirty="0" smtClean="0"/>
              <a:t>Steps:</a:t>
            </a:r>
          </a:p>
          <a:p>
            <a:pPr marL="393192" lvl="1" indent="0">
              <a:buNone/>
            </a:pPr>
            <a:r>
              <a:rPr lang="en-US" dirty="0" smtClean="0"/>
              <a:t># </a:t>
            </a: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pigpiod</a:t>
            </a: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# </a:t>
            </a:r>
            <a:r>
              <a:rPr lang="en-US" dirty="0" err="1"/>
              <a:t>wget</a:t>
            </a:r>
            <a:r>
              <a:rPr lang="en-US" dirty="0"/>
              <a:t> </a:t>
            </a:r>
            <a:r>
              <a:rPr lang="en-US" dirty="0" smtClean="0"/>
              <a:t>abyz.co.uk/</a:t>
            </a:r>
            <a:r>
              <a:rPr lang="en-US" dirty="0" err="1" smtClean="0"/>
              <a:t>rpi</a:t>
            </a:r>
            <a:r>
              <a:rPr lang="en-US" dirty="0" smtClean="0"/>
              <a:t>/</a:t>
            </a:r>
            <a:r>
              <a:rPr lang="en-US" dirty="0" err="1" smtClean="0"/>
              <a:t>pigpio</a:t>
            </a:r>
            <a:r>
              <a:rPr lang="en-US" dirty="0" smtClean="0"/>
              <a:t>/piscope.tar</a:t>
            </a:r>
          </a:p>
          <a:p>
            <a:pPr marL="393192" lvl="1" indent="0">
              <a:buNone/>
            </a:pPr>
            <a:r>
              <a:rPr lang="en-US" dirty="0" smtClean="0"/>
              <a:t>(</a:t>
            </a:r>
            <a:r>
              <a:rPr lang="en-US" dirty="0" err="1" smtClean="0"/>
              <a:t>Untar</a:t>
            </a:r>
            <a:r>
              <a:rPr lang="en-US" dirty="0" smtClean="0"/>
              <a:t>, make </a:t>
            </a:r>
            <a:r>
              <a:rPr lang="en-US" dirty="0" err="1" smtClean="0"/>
              <a:t>hf</a:t>
            </a:r>
            <a:r>
              <a:rPr lang="en-US" dirty="0" smtClean="0"/>
              <a:t>, make install)</a:t>
            </a:r>
          </a:p>
          <a:p>
            <a:r>
              <a:rPr lang="en-US" dirty="0" smtClean="0"/>
              <a:t>Tracks all GPIO pins including I2C and SPI</a:t>
            </a:r>
          </a:p>
          <a:p>
            <a:pPr lvl="1"/>
            <a:r>
              <a:rPr lang="en-US" dirty="0" smtClean="0"/>
              <a:t>Run a </a:t>
            </a:r>
            <a:r>
              <a:rPr lang="en-US" dirty="0" err="1" smtClean="0"/>
              <a:t>grovepi</a:t>
            </a:r>
            <a:r>
              <a:rPr lang="en-US" dirty="0" smtClean="0"/>
              <a:t> .</a:t>
            </a:r>
            <a:r>
              <a:rPr lang="en-US" dirty="0" err="1" smtClean="0"/>
              <a:t>py</a:t>
            </a:r>
            <a:r>
              <a:rPr lang="en-US" dirty="0" smtClean="0"/>
              <a:t> sensor example to see i2C</a:t>
            </a:r>
          </a:p>
          <a:p>
            <a:pPr lvl="1"/>
            <a:r>
              <a:rPr lang="en-US" dirty="0" smtClean="0"/>
              <a:t>Run a firmware update to see SPI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7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Graphics and Imaging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XV</a:t>
            </a:r>
            <a:r>
              <a:rPr lang="en-US" dirty="0" smtClean="0"/>
              <a:t> – age-old image browser/editor/processor</a:t>
            </a:r>
          </a:p>
          <a:p>
            <a:pPr lvl="1"/>
            <a:r>
              <a:rPr lang="en-US" dirty="0" smtClean="0"/>
              <a:t>Let’s make it run on the Pi</a:t>
            </a:r>
          </a:p>
          <a:p>
            <a:pPr lvl="2"/>
            <a:r>
              <a:rPr lang="en-US" dirty="0" smtClean="0"/>
              <a:t>An exercise in </a:t>
            </a:r>
            <a:r>
              <a:rPr lang="en-US" b="1" dirty="0" smtClean="0"/>
              <a:t>OSS S/W Build</a:t>
            </a:r>
          </a:p>
          <a:p>
            <a:pPr lvl="1"/>
            <a:r>
              <a:rPr lang="en-US" dirty="0" err="1" smtClean="0"/>
              <a:t>Src</a:t>
            </a:r>
            <a:r>
              <a:rPr lang="en-US" dirty="0" smtClean="0"/>
              <a:t> code:</a:t>
            </a:r>
          </a:p>
          <a:p>
            <a:pPr lvl="2"/>
            <a:r>
              <a:rPr lang="en-US" dirty="0" smtClean="0"/>
              <a:t>ftp</a:t>
            </a:r>
            <a:r>
              <a:rPr lang="en-US" dirty="0"/>
              <a:t>://</a:t>
            </a:r>
            <a:r>
              <a:rPr lang="en-US" dirty="0" smtClean="0"/>
              <a:t>ftp.trilon.com/pub/xv/xv-3.10a.tar.gz</a:t>
            </a:r>
          </a:p>
          <a:p>
            <a:pPr lvl="1"/>
            <a:r>
              <a:rPr lang="en-US" dirty="0" smtClean="0"/>
              <a:t>Compiling:</a:t>
            </a:r>
          </a:p>
          <a:p>
            <a:pPr lvl="2"/>
            <a:r>
              <a:rPr lang="en-US" dirty="0" smtClean="0"/>
              <a:t>libX11-dev, </a:t>
            </a:r>
            <a:r>
              <a:rPr lang="en-US" dirty="0" err="1" smtClean="0"/>
              <a:t>libxt-dev</a:t>
            </a:r>
            <a:r>
              <a:rPr lang="en-US" dirty="0" smtClean="0"/>
              <a:t> needed + </a:t>
            </a:r>
            <a:r>
              <a:rPr lang="en-US" dirty="0" err="1" smtClean="0"/>
              <a:t>src</a:t>
            </a:r>
            <a:r>
              <a:rPr lang="en-US" dirty="0" smtClean="0"/>
              <a:t> code changes!</a:t>
            </a:r>
          </a:p>
          <a:p>
            <a:r>
              <a:rPr lang="en-US" b="1" dirty="0" err="1" smtClean="0"/>
              <a:t>OpenCV</a:t>
            </a:r>
            <a:r>
              <a:rPr lang="en-US" dirty="0" smtClean="0"/>
              <a:t> can be compiled on </a:t>
            </a:r>
            <a:r>
              <a:rPr lang="en-US" dirty="0" err="1" smtClean="0"/>
              <a:t>Raspi</a:t>
            </a:r>
            <a:r>
              <a:rPr lang="en-US" dirty="0" smtClean="0"/>
              <a:t> (~35mins native compile </a:t>
            </a:r>
            <a:r>
              <a:rPr lang="en-US" smtClean="0"/>
              <a:t>for OpenCV3.10)</a:t>
            </a:r>
            <a:endParaRPr lang="en-US" dirty="0" smtClean="0"/>
          </a:p>
          <a:p>
            <a:pPr lvl="1"/>
            <a:r>
              <a:rPr lang="en-US" dirty="0" smtClean="0"/>
              <a:t>Imaging, Graphics, Image Processing, Image Analysis, Machine Learning</a:t>
            </a:r>
          </a:p>
          <a:p>
            <a:r>
              <a:rPr lang="en-US" b="1" dirty="0" err="1" smtClean="0"/>
              <a:t>QT</a:t>
            </a:r>
            <a:r>
              <a:rPr lang="en-US" b="1" i="1" dirty="0" err="1" smtClean="0"/>
              <a:t>onPi</a:t>
            </a:r>
            <a:r>
              <a:rPr lang="en-US" dirty="0" smtClean="0"/>
              <a:t> project</a:t>
            </a:r>
          </a:p>
          <a:p>
            <a:pPr lvl="1"/>
            <a:r>
              <a:rPr lang="en-US" dirty="0" smtClean="0"/>
              <a:t>QT (OS-</a:t>
            </a:r>
            <a:r>
              <a:rPr lang="en-US" i="1" dirty="0" smtClean="0"/>
              <a:t>independent </a:t>
            </a:r>
            <a:r>
              <a:rPr lang="en-US" dirty="0" smtClean="0"/>
              <a:t>UI framework) on </a:t>
            </a:r>
            <a:r>
              <a:rPr lang="en-US" dirty="0" err="1" smtClean="0"/>
              <a:t>RasPi</a:t>
            </a:r>
            <a:endParaRPr lang="en-US" dirty="0" smtClean="0"/>
          </a:p>
          <a:p>
            <a:r>
              <a:rPr lang="en-US" b="1" dirty="0" err="1" smtClean="0"/>
              <a:t>piNGL</a:t>
            </a:r>
            <a:r>
              <a:rPr lang="en-US" b="1" dirty="0" smtClean="0"/>
              <a:t> </a:t>
            </a:r>
            <a:r>
              <a:rPr lang="en-US" dirty="0" smtClean="0"/>
              <a:t>(NCCA Graphics library – NGL on </a:t>
            </a:r>
            <a:r>
              <a:rPr lang="en-US" dirty="0" err="1" smtClean="0"/>
              <a:t>RasPi</a:t>
            </a:r>
            <a:r>
              <a:rPr lang="en-US" dirty="0" smtClean="0"/>
              <a:t>)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nccastaff.bournemouth.ac.uk/jmacey/GraphicsLib/piNGL/index.html</a:t>
            </a:r>
            <a:endParaRPr lang="en-US" dirty="0" smtClean="0"/>
          </a:p>
          <a:p>
            <a:r>
              <a:rPr lang="en-US" dirty="0" smtClean="0"/>
              <a:t>High-end graphics possible using </a:t>
            </a:r>
            <a:r>
              <a:rPr lang="en-US" dirty="0" err="1" smtClean="0"/>
              <a:t>Raspi’s</a:t>
            </a:r>
            <a:r>
              <a:rPr lang="en-US" dirty="0" smtClean="0"/>
              <a:t> GPU</a:t>
            </a:r>
          </a:p>
          <a:p>
            <a:pPr lvl="1"/>
            <a:r>
              <a:rPr lang="en-US" dirty="0" err="1"/>
              <a:t>OpenMax</a:t>
            </a:r>
            <a:r>
              <a:rPr lang="en-US" dirty="0"/>
              <a:t> and OpenGL </a:t>
            </a:r>
            <a:r>
              <a:rPr lang="en-US" dirty="0" smtClean="0"/>
              <a:t>pipelines</a:t>
            </a:r>
          </a:p>
          <a:p>
            <a:r>
              <a:rPr lang="en-US" dirty="0" smtClean="0"/>
              <a:t>GPU </a:t>
            </a:r>
            <a:r>
              <a:rPr lang="en-US" dirty="0" err="1" smtClean="0"/>
              <a:t>transcoder</a:t>
            </a:r>
            <a:endParaRPr lang="en-US" dirty="0" smtClean="0"/>
          </a:p>
          <a:p>
            <a:pPr lvl="1"/>
            <a:r>
              <a:rPr lang="en-US" dirty="0" smtClean="0"/>
              <a:t>…in the works!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0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Pi Camera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Pi can handle various USB cameras (webcams)</a:t>
            </a:r>
          </a:p>
          <a:p>
            <a:r>
              <a:rPr lang="en-US" dirty="0" smtClean="0"/>
              <a:t>The Pi also has a dedicated camera module</a:t>
            </a:r>
          </a:p>
          <a:p>
            <a:pPr lvl="1"/>
            <a:r>
              <a:rPr lang="en-US" dirty="0" err="1" smtClean="0"/>
              <a:t>OmniVision</a:t>
            </a:r>
            <a:r>
              <a:rPr lang="en-US" dirty="0" smtClean="0"/>
              <a:t> OV5647 sensor</a:t>
            </a:r>
          </a:p>
          <a:p>
            <a:pPr lvl="1"/>
            <a:r>
              <a:rPr lang="en-US" dirty="0" smtClean="0"/>
              <a:t>Ultra </a:t>
            </a:r>
            <a:r>
              <a:rPr lang="en-US" dirty="0"/>
              <a:t>small (3 </a:t>
            </a:r>
            <a:r>
              <a:rPr lang="en-US" dirty="0" smtClean="0"/>
              <a:t>grams), fits directly into the CSI port of the Pi</a:t>
            </a:r>
          </a:p>
          <a:p>
            <a:pPr lvl="1"/>
            <a:r>
              <a:rPr lang="en-US" dirty="0" smtClean="0"/>
              <a:t>Image mode: 2592 </a:t>
            </a:r>
            <a:r>
              <a:rPr lang="en-US" dirty="0"/>
              <a:t>x </a:t>
            </a:r>
            <a:r>
              <a:rPr lang="en-US" dirty="0" smtClean="0"/>
              <a:t>1944</a:t>
            </a:r>
          </a:p>
          <a:p>
            <a:pPr lvl="2"/>
            <a:r>
              <a:rPr lang="en-US" dirty="0" smtClean="0"/>
              <a:t>Standards: JPEG (GPU), RAW, GIF, BMP, PNG, YUV420, RGB888</a:t>
            </a:r>
          </a:p>
          <a:p>
            <a:pPr lvl="1"/>
            <a:r>
              <a:rPr lang="en-US" dirty="0" smtClean="0"/>
              <a:t>Video modes : 1080@30</a:t>
            </a:r>
            <a:r>
              <a:rPr lang="en-US" dirty="0"/>
              <a:t>, </a:t>
            </a:r>
            <a:r>
              <a:rPr lang="en-US" dirty="0" smtClean="0"/>
              <a:t>720@60 </a:t>
            </a:r>
            <a:r>
              <a:rPr lang="en-US" dirty="0"/>
              <a:t>and </a:t>
            </a:r>
            <a:r>
              <a:rPr lang="en-US" dirty="0" smtClean="0"/>
              <a:t>640x480@60/90</a:t>
            </a:r>
          </a:p>
          <a:p>
            <a:pPr lvl="2"/>
            <a:r>
              <a:rPr lang="en-US" dirty="0" smtClean="0"/>
              <a:t>Codec: H.264</a:t>
            </a:r>
          </a:p>
          <a:p>
            <a:pPr lvl="1"/>
            <a:r>
              <a:rPr lang="en-US" dirty="0" smtClean="0"/>
              <a:t>Has full Linux V4L2 support as well as </a:t>
            </a:r>
            <a:r>
              <a:rPr lang="en-US" dirty="0" err="1" smtClean="0"/>
              <a:t>OpenMax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3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Camera module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Run </a:t>
            </a:r>
            <a:r>
              <a:rPr lang="en-US" dirty="0" err="1" smtClean="0"/>
              <a:t>raspi-config</a:t>
            </a:r>
            <a:r>
              <a:rPr lang="en-US" dirty="0"/>
              <a:t> </a:t>
            </a:r>
            <a:r>
              <a:rPr lang="en-US" dirty="0" smtClean="0"/>
              <a:t>and select </a:t>
            </a:r>
            <a:r>
              <a:rPr lang="en-US" b="1" dirty="0" smtClean="0"/>
              <a:t>5 Enable Camera</a:t>
            </a:r>
          </a:p>
          <a:p>
            <a:r>
              <a:rPr lang="en-US" dirty="0" smtClean="0"/>
              <a:t>Connect the camera module and boot the Pi</a:t>
            </a:r>
          </a:p>
          <a:p>
            <a:r>
              <a:rPr lang="en-US" dirty="0" err="1" smtClean="0"/>
              <a:t>Utils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Imaging:</a:t>
            </a:r>
          </a:p>
          <a:p>
            <a:pPr lvl="2"/>
            <a:r>
              <a:rPr lang="en-US" dirty="0" err="1"/>
              <a:t>r</a:t>
            </a:r>
            <a:r>
              <a:rPr lang="en-US" dirty="0" err="1" smtClean="0"/>
              <a:t>aspistill</a:t>
            </a:r>
            <a:r>
              <a:rPr lang="en-US" dirty="0" smtClean="0"/>
              <a:t> –v –o a.jpg</a:t>
            </a:r>
          </a:p>
          <a:p>
            <a:pPr lvl="1"/>
            <a:r>
              <a:rPr lang="en-US" dirty="0" smtClean="0"/>
              <a:t>Video:</a:t>
            </a:r>
          </a:p>
          <a:p>
            <a:pPr lvl="2"/>
            <a:r>
              <a:rPr lang="en-US" dirty="0" err="1" smtClean="0"/>
              <a:t>raspivid</a:t>
            </a:r>
            <a:r>
              <a:rPr lang="en-US" dirty="0" smtClean="0"/>
              <a:t> –v -0 a.h.264 –t 10000 (10 </a:t>
            </a:r>
            <a:r>
              <a:rPr lang="en-US" dirty="0" err="1" smtClean="0"/>
              <a:t>secs</a:t>
            </a:r>
            <a:r>
              <a:rPr lang="en-US" dirty="0" smtClean="0"/>
              <a:t> live recording)</a:t>
            </a:r>
          </a:p>
          <a:p>
            <a:pPr lvl="2"/>
            <a:r>
              <a:rPr lang="en-US" dirty="0" err="1"/>
              <a:t>r</a:t>
            </a:r>
            <a:r>
              <a:rPr lang="en-US" dirty="0" err="1" smtClean="0"/>
              <a:t>aspivid</a:t>
            </a:r>
            <a:r>
              <a:rPr lang="en-US" dirty="0" smtClean="0"/>
              <a:t> –f (preview for 5 seconds)</a:t>
            </a:r>
          </a:p>
          <a:p>
            <a:pPr lvl="2"/>
            <a:r>
              <a:rPr lang="en-US" dirty="0" err="1"/>
              <a:t>r</a:t>
            </a:r>
            <a:r>
              <a:rPr lang="en-US" dirty="0" err="1" smtClean="0"/>
              <a:t>aspivid</a:t>
            </a:r>
            <a:r>
              <a:rPr lang="en-US" dirty="0" smtClean="0"/>
              <a:t> –f –ex … </a:t>
            </a:r>
          </a:p>
          <a:p>
            <a:pPr lvl="3"/>
            <a:r>
              <a:rPr lang="en-US" dirty="0" smtClean="0"/>
              <a:t>control exposure: auto, night, snow, </a:t>
            </a:r>
            <a:r>
              <a:rPr lang="en-US" dirty="0" err="1" smtClean="0"/>
              <a:t>verylong</a:t>
            </a:r>
            <a:r>
              <a:rPr lang="en-US" dirty="0" smtClean="0"/>
              <a:t>, sports, …</a:t>
            </a:r>
          </a:p>
          <a:p>
            <a:pPr lvl="2"/>
            <a:r>
              <a:rPr lang="en-US" dirty="0" err="1"/>
              <a:t>r</a:t>
            </a:r>
            <a:r>
              <a:rPr lang="en-US" dirty="0" err="1" smtClean="0"/>
              <a:t>aspivid</a:t>
            </a:r>
            <a:r>
              <a:rPr lang="en-US" dirty="0" smtClean="0"/>
              <a:t> –f –</a:t>
            </a:r>
            <a:r>
              <a:rPr lang="en-US" dirty="0" err="1"/>
              <a:t>i</a:t>
            </a:r>
            <a:r>
              <a:rPr lang="en-US" dirty="0" err="1" smtClean="0"/>
              <a:t>fx</a:t>
            </a:r>
            <a:r>
              <a:rPr lang="en-US" dirty="0" smtClean="0"/>
              <a:t> …</a:t>
            </a:r>
          </a:p>
          <a:p>
            <a:pPr lvl="3"/>
            <a:r>
              <a:rPr lang="en-US" dirty="0"/>
              <a:t>e</a:t>
            </a:r>
            <a:r>
              <a:rPr lang="en-US" dirty="0" smtClean="0"/>
              <a:t>ffects: negative, sketch, emboss, </a:t>
            </a:r>
            <a:r>
              <a:rPr lang="en-US" dirty="0" err="1" smtClean="0"/>
              <a:t>oilpaint</a:t>
            </a:r>
            <a:r>
              <a:rPr lang="en-US" dirty="0" smtClean="0"/>
              <a:t>, hatch, pastel, blur, film</a:t>
            </a:r>
          </a:p>
          <a:p>
            <a:pPr lvl="2"/>
            <a:r>
              <a:rPr lang="en-US" dirty="0" err="1" smtClean="0"/>
              <a:t>raspivid</a:t>
            </a:r>
            <a:r>
              <a:rPr lang="en-US" dirty="0" smtClean="0"/>
              <a:t> –-rotation 0,90,180,360 (rotation)</a:t>
            </a:r>
          </a:p>
          <a:p>
            <a:pPr lvl="2"/>
            <a:r>
              <a:rPr lang="en-US" dirty="0" err="1"/>
              <a:t>r</a:t>
            </a:r>
            <a:r>
              <a:rPr lang="en-US" dirty="0" err="1" smtClean="0"/>
              <a:t>aspivid</a:t>
            </a:r>
            <a:r>
              <a:rPr lang="en-US" dirty="0" smtClean="0"/>
              <a:t> –</a:t>
            </a:r>
            <a:r>
              <a:rPr lang="en-US" dirty="0" err="1" smtClean="0"/>
              <a:t>hf</a:t>
            </a:r>
            <a:r>
              <a:rPr lang="en-US" dirty="0" smtClean="0"/>
              <a:t>, -</a:t>
            </a:r>
            <a:r>
              <a:rPr lang="en-US" dirty="0" err="1" smtClean="0"/>
              <a:t>vf</a:t>
            </a:r>
            <a:r>
              <a:rPr lang="en-US" dirty="0" smtClean="0"/>
              <a:t> (horizontal and vertical flip)</a:t>
            </a:r>
          </a:p>
          <a:p>
            <a:pPr lvl="2"/>
            <a:r>
              <a:rPr lang="en-US" dirty="0" err="1"/>
              <a:t>r</a:t>
            </a:r>
            <a:r>
              <a:rPr lang="en-US" dirty="0" err="1" smtClean="0"/>
              <a:t>aspivid</a:t>
            </a:r>
            <a:r>
              <a:rPr lang="en-US" dirty="0" smtClean="0"/>
              <a:t> –</a:t>
            </a:r>
            <a:r>
              <a:rPr lang="en-US" dirty="0" err="1" smtClean="0"/>
              <a:t>roi</a:t>
            </a:r>
            <a:r>
              <a:rPr lang="en-US" dirty="0" smtClean="0"/>
              <a:t> x1,y1,x2,y2 (region of interest – zoom)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8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Surveillance (Jessie)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We will use a standard USB-webcam software “motion”</a:t>
            </a:r>
          </a:p>
          <a:p>
            <a:pPr marL="393192" lvl="1" indent="0">
              <a:buNone/>
            </a:pPr>
            <a:r>
              <a:rPr lang="en-US" sz="2000" dirty="0" smtClean="0"/>
              <a:t>$ </a:t>
            </a:r>
            <a:r>
              <a:rPr lang="en-US" sz="2000" dirty="0" err="1" smtClean="0"/>
              <a:t>sudo</a:t>
            </a:r>
            <a:r>
              <a:rPr lang="en-US" sz="2000" dirty="0" smtClean="0"/>
              <a:t>  apt-get install motion</a:t>
            </a:r>
          </a:p>
          <a:p>
            <a:pPr marL="393192" lvl="1" indent="0">
              <a:buNone/>
            </a:pPr>
            <a:r>
              <a:rPr lang="en-US" sz="2000" dirty="0" smtClean="0"/>
              <a:t>$ </a:t>
            </a:r>
            <a:r>
              <a:rPr lang="en-US" sz="2000" dirty="0" err="1" smtClean="0"/>
              <a:t>sudo</a:t>
            </a:r>
            <a:r>
              <a:rPr lang="en-US" sz="2000" dirty="0" smtClean="0"/>
              <a:t> apt-get remove motion </a:t>
            </a:r>
            <a:r>
              <a:rPr lang="en-US" sz="2000" dirty="0" smtClean="0">
                <a:solidFill>
                  <a:srgbClr val="FF0000"/>
                </a:solidFill>
              </a:rPr>
              <a:t>(!!)</a:t>
            </a:r>
          </a:p>
          <a:p>
            <a:pPr marL="393192" lvl="1" indent="0">
              <a:buNone/>
            </a:pPr>
            <a:r>
              <a:rPr lang="en-US" sz="2000" dirty="0" smtClean="0"/>
              <a:t>$ </a:t>
            </a:r>
            <a:r>
              <a:rPr lang="en-US" sz="2000" dirty="0" err="1" smtClean="0"/>
              <a:t>sudo</a:t>
            </a:r>
            <a:r>
              <a:rPr lang="en-US" sz="2000" dirty="0" smtClean="0"/>
              <a:t> apt-get install libjpeg62</a:t>
            </a:r>
          </a:p>
          <a:p>
            <a:pPr marL="393192" lvl="1" indent="0">
              <a:buNone/>
            </a:pPr>
            <a:r>
              <a:rPr lang="en-US" sz="2000" dirty="0" smtClean="0"/>
              <a:t>$ </a:t>
            </a:r>
            <a:r>
              <a:rPr lang="en-IN" sz="2100" dirty="0" err="1" smtClean="0"/>
              <a:t>sudo</a:t>
            </a:r>
            <a:r>
              <a:rPr lang="en-IN" sz="2100" dirty="0" smtClean="0"/>
              <a:t> apt-get install -y </a:t>
            </a:r>
            <a:r>
              <a:rPr lang="en-IN" sz="2100" dirty="0" err="1" smtClean="0"/>
              <a:t>libjpeg</a:t>
            </a:r>
            <a:r>
              <a:rPr lang="en-IN" sz="2100" dirty="0" smtClean="0"/>
              <a:t>-dev libavformat56 </a:t>
            </a:r>
            <a:r>
              <a:rPr lang="en-IN" sz="2100" dirty="0" err="1" smtClean="0"/>
              <a:t>libavformat</a:t>
            </a:r>
            <a:r>
              <a:rPr lang="en-IN" sz="2100" dirty="0" smtClean="0"/>
              <a:t>-dev libavcodec56 </a:t>
            </a:r>
            <a:r>
              <a:rPr lang="en-IN" sz="2100" dirty="0" err="1" smtClean="0"/>
              <a:t>libavcodec</a:t>
            </a:r>
            <a:r>
              <a:rPr lang="en-IN" sz="2100" dirty="0" smtClean="0"/>
              <a:t>-dev libavutil54 </a:t>
            </a:r>
            <a:r>
              <a:rPr lang="en-IN" sz="2100" dirty="0" err="1" smtClean="0"/>
              <a:t>libavutil</a:t>
            </a:r>
            <a:r>
              <a:rPr lang="en-IN" sz="2100" dirty="0" smtClean="0"/>
              <a:t>-dev libc6-dev zlib1g-dev libmysqlclient18 </a:t>
            </a:r>
            <a:r>
              <a:rPr lang="en-IN" sz="2100" dirty="0" err="1" smtClean="0"/>
              <a:t>libmysqlclient</a:t>
            </a:r>
            <a:r>
              <a:rPr lang="en-IN" sz="2100" dirty="0" smtClean="0"/>
              <a:t>-dev libpq5 </a:t>
            </a:r>
            <a:r>
              <a:rPr lang="en-IN" sz="2100" dirty="0" err="1" smtClean="0"/>
              <a:t>libpq</a:t>
            </a:r>
            <a:r>
              <a:rPr lang="en-IN" sz="2100" dirty="0" smtClean="0"/>
              <a:t>-dev</a:t>
            </a:r>
          </a:p>
          <a:p>
            <a:pPr marL="393192" lvl="1" indent="0">
              <a:buNone/>
            </a:pPr>
            <a:endParaRPr lang="en-US" sz="2100" dirty="0" smtClean="0"/>
          </a:p>
          <a:p>
            <a:r>
              <a:rPr lang="en-US" dirty="0" smtClean="0"/>
              <a:t>Now get “motion-</a:t>
            </a:r>
            <a:r>
              <a:rPr lang="en-US" dirty="0" err="1" smtClean="0"/>
              <a:t>mmal</a:t>
            </a:r>
            <a:r>
              <a:rPr lang="en-US" dirty="0" smtClean="0"/>
              <a:t>” binaries</a:t>
            </a:r>
          </a:p>
          <a:p>
            <a:pPr marL="393192" lvl="1" indent="0">
              <a:buNone/>
            </a:pPr>
            <a:r>
              <a:rPr lang="en-US" sz="2100" dirty="0" smtClean="0"/>
              <a:t>$ </a:t>
            </a:r>
            <a:r>
              <a:rPr lang="en-US" sz="2100" dirty="0" err="1"/>
              <a:t>wget</a:t>
            </a:r>
            <a:r>
              <a:rPr lang="en-US" sz="2100" dirty="0"/>
              <a:t> </a:t>
            </a:r>
            <a:r>
              <a:rPr lang="en-IN" sz="2100" u="sng" dirty="0" smtClean="0">
                <a:hlinkClick r:id="rId2"/>
              </a:rPr>
              <a:t> https://www.dropbox.com/s/6ruqgv1h65zufr6/motion-mmal-lowflyerUK-20151114.tar.gz</a:t>
            </a:r>
            <a:endParaRPr lang="en-IN" sz="2100" u="sng" dirty="0" smtClean="0"/>
          </a:p>
          <a:p>
            <a:pPr marL="393192" lvl="1" indent="0">
              <a:buNone/>
            </a:pPr>
            <a:endParaRPr lang="en-US" sz="1800" u="sng" dirty="0" smtClean="0"/>
          </a:p>
          <a:p>
            <a:r>
              <a:rPr lang="en-US" sz="2000" dirty="0" err="1" smtClean="0"/>
              <a:t>Untar</a:t>
            </a:r>
            <a:r>
              <a:rPr lang="en-US" sz="2000" dirty="0" smtClean="0"/>
              <a:t> the zip, and edit motion-</a:t>
            </a:r>
            <a:r>
              <a:rPr lang="en-US" sz="2000" dirty="0" err="1" smtClean="0"/>
              <a:t>mmal.conf</a:t>
            </a:r>
            <a:endParaRPr lang="en-US" sz="2000" dirty="0" smtClean="0"/>
          </a:p>
          <a:p>
            <a:pPr lvl="1"/>
            <a:r>
              <a:rPr lang="en-US" sz="1800" dirty="0"/>
              <a:t>d</a:t>
            </a:r>
            <a:r>
              <a:rPr lang="en-US" sz="1800" dirty="0" smtClean="0"/>
              <a:t>aemon off</a:t>
            </a:r>
          </a:p>
          <a:p>
            <a:pPr lvl="1"/>
            <a:r>
              <a:rPr lang="en-US" sz="1800" dirty="0"/>
              <a:t>w</a:t>
            </a:r>
            <a:r>
              <a:rPr lang="en-US" sz="1800" dirty="0" smtClean="0"/>
              <a:t>idth 640, height 480</a:t>
            </a:r>
          </a:p>
          <a:p>
            <a:pPr lvl="1"/>
            <a:r>
              <a:rPr lang="en-US" sz="1800" dirty="0" err="1"/>
              <a:t>f</a:t>
            </a:r>
            <a:r>
              <a:rPr lang="en-US" sz="1800" dirty="0" err="1" smtClean="0"/>
              <a:t>ramerate</a:t>
            </a:r>
            <a:r>
              <a:rPr lang="en-US" sz="1800" dirty="0" smtClean="0"/>
              <a:t> 5</a:t>
            </a:r>
          </a:p>
          <a:p>
            <a:pPr lvl="1"/>
            <a:r>
              <a:rPr lang="en-US" sz="1800" dirty="0" err="1" smtClean="0"/>
              <a:t>output_pictures</a:t>
            </a:r>
            <a:r>
              <a:rPr lang="en-US" sz="1800" dirty="0" smtClean="0"/>
              <a:t> off</a:t>
            </a:r>
          </a:p>
          <a:p>
            <a:pPr lvl="1"/>
            <a:r>
              <a:rPr lang="en-US" sz="1800" dirty="0" err="1" smtClean="0"/>
              <a:t>ffmpeg_output_movies</a:t>
            </a:r>
            <a:r>
              <a:rPr lang="en-US" sz="1800" dirty="0" smtClean="0"/>
              <a:t> off</a:t>
            </a:r>
          </a:p>
          <a:p>
            <a:pPr lvl="1"/>
            <a:r>
              <a:rPr lang="en-US" sz="1800" dirty="0" err="1" smtClean="0"/>
              <a:t>lightswitch</a:t>
            </a:r>
            <a:r>
              <a:rPr lang="en-US" sz="1800" dirty="0" smtClean="0"/>
              <a:t> 0</a:t>
            </a:r>
          </a:p>
          <a:p>
            <a:pPr lvl="1"/>
            <a:endParaRPr lang="en-US" sz="1800" dirty="0" smtClean="0"/>
          </a:p>
          <a:p>
            <a:r>
              <a:rPr lang="en-US" sz="2000" dirty="0" smtClean="0"/>
              <a:t>Start the new motion</a:t>
            </a:r>
          </a:p>
          <a:p>
            <a:pPr marL="393192" lvl="1" indent="0">
              <a:buNone/>
            </a:pPr>
            <a:r>
              <a:rPr lang="en-US" sz="2200" dirty="0" smtClean="0"/>
              <a:t>$ </a:t>
            </a:r>
            <a:r>
              <a:rPr lang="en-US" sz="2200" dirty="0" err="1"/>
              <a:t>sudo</a:t>
            </a:r>
            <a:r>
              <a:rPr lang="en-US" sz="2200" dirty="0"/>
              <a:t> ./motion -c </a:t>
            </a:r>
            <a:r>
              <a:rPr lang="en-US" sz="2200" dirty="0" smtClean="0"/>
              <a:t>motion-</a:t>
            </a:r>
            <a:r>
              <a:rPr lang="en-US" sz="2200" dirty="0" err="1" smtClean="0"/>
              <a:t>mmalcam.conf</a:t>
            </a:r>
            <a:endParaRPr lang="en-US" sz="2200" dirty="0" smtClean="0"/>
          </a:p>
          <a:p>
            <a:pPr marL="393192" lvl="1" indent="0">
              <a:buNone/>
            </a:pPr>
            <a:endParaRPr lang="en-US" sz="2200" dirty="0" smtClean="0"/>
          </a:p>
          <a:p>
            <a:r>
              <a:rPr lang="en-US" sz="2000" dirty="0" smtClean="0"/>
              <a:t>Surveillance camera with date and time stamped video will be available for viewing in </a:t>
            </a:r>
            <a:r>
              <a:rPr lang="en-US" sz="2000" b="1" dirty="0" smtClean="0"/>
              <a:t>Chrome</a:t>
            </a:r>
            <a:r>
              <a:rPr lang="en-US" sz="2000" dirty="0" smtClean="0"/>
              <a:t> at:</a:t>
            </a:r>
          </a:p>
          <a:p>
            <a:pPr marL="393192" lvl="1" indent="0">
              <a:buNone/>
            </a:pPr>
            <a:r>
              <a:rPr lang="en-US" sz="2100" dirty="0" smtClean="0"/>
              <a:t>http: &lt;</a:t>
            </a:r>
            <a:r>
              <a:rPr lang="en-US" sz="2100" dirty="0" err="1" smtClean="0"/>
              <a:t>Pi_IP</a:t>
            </a:r>
            <a:r>
              <a:rPr lang="en-US" sz="2100" dirty="0" smtClean="0"/>
              <a:t>&gt;:8081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18468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Raspi</a:t>
            </a:r>
            <a:r>
              <a:rPr lang="en-US" dirty="0" smtClean="0"/>
              <a:t>: ARM Gaming – DOOM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chocolate-doom is DOOM built for the Pi</a:t>
            </a:r>
          </a:p>
          <a:p>
            <a:r>
              <a:rPr lang="en-US" dirty="0" smtClean="0"/>
              <a:t>Get helpers:</a:t>
            </a:r>
          </a:p>
          <a:p>
            <a:pPr marL="393192" lvl="1" indent="0">
              <a:buNone/>
            </a:pPr>
            <a:r>
              <a:rPr lang="en-US" sz="1600" dirty="0" smtClean="0"/>
              <a:t>$ </a:t>
            </a:r>
            <a:r>
              <a:rPr lang="en-US" sz="1600" dirty="0" err="1" smtClean="0"/>
              <a:t>sudo</a:t>
            </a:r>
            <a:r>
              <a:rPr lang="en-US" sz="1600" dirty="0" smtClean="0"/>
              <a:t> </a:t>
            </a:r>
            <a:r>
              <a:rPr lang="en-US" sz="1600" dirty="0"/>
              <a:t>apt-get install libsdl1.2debian libsdl-image1.2 libsdl-mixer1.2 libsdl-mixer1.2-dev libsdl-net1.2 libsdl-net1.2-dev </a:t>
            </a:r>
            <a:r>
              <a:rPr lang="en-US" sz="1600" dirty="0" smtClean="0"/>
              <a:t>timidity</a:t>
            </a:r>
          </a:p>
          <a:p>
            <a:r>
              <a:rPr lang="en-US" dirty="0" smtClean="0"/>
              <a:t>Get DOOM source code</a:t>
            </a:r>
          </a:p>
          <a:p>
            <a:pPr marL="393192" lvl="1" indent="0">
              <a:buNone/>
            </a:pPr>
            <a:r>
              <a:rPr lang="en-US" sz="1600" dirty="0" smtClean="0"/>
              <a:t>$ </a:t>
            </a:r>
            <a:r>
              <a:rPr lang="en-US" sz="1600" dirty="0" err="1"/>
              <a:t>wget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http://</a:t>
            </a:r>
            <a:r>
              <a:rPr lang="en-US" sz="1600" dirty="0" smtClean="0">
                <a:hlinkClick r:id="rId2"/>
              </a:rPr>
              <a:t>www.chocolate-doom.org/downloads/2.2.0/chocolate-doom-2.2.0.tar.gz</a:t>
            </a:r>
            <a:endParaRPr lang="en-US" sz="1600" dirty="0" smtClean="0"/>
          </a:p>
          <a:p>
            <a:r>
              <a:rPr lang="en-US" sz="2200" dirty="0" err="1" smtClean="0"/>
              <a:t>Untar</a:t>
            </a:r>
            <a:r>
              <a:rPr lang="en-US" sz="2200" dirty="0" smtClean="0"/>
              <a:t> and compile using ./configure, make (-j8 takes ~ 7mins!)</a:t>
            </a:r>
          </a:p>
          <a:p>
            <a:r>
              <a:rPr lang="en-US" sz="2200" dirty="0" smtClean="0"/>
              <a:t>Download a shareware DOOM WAD file</a:t>
            </a:r>
          </a:p>
          <a:p>
            <a:pPr marL="393192" lvl="1" indent="0">
              <a:buNone/>
            </a:pPr>
            <a:r>
              <a:rPr lang="en-US" sz="1600" dirty="0" smtClean="0"/>
              <a:t>$ </a:t>
            </a:r>
            <a:r>
              <a:rPr lang="en-US" sz="1600" dirty="0" err="1" smtClean="0"/>
              <a:t>wget</a:t>
            </a:r>
            <a:r>
              <a:rPr lang="en-US" sz="1600" dirty="0" smtClean="0"/>
              <a:t> </a:t>
            </a:r>
            <a:r>
              <a:rPr lang="en-US" sz="1600" dirty="0" smtClean="0">
                <a:hlinkClick r:id="rId3"/>
              </a:rPr>
              <a:t>http</a:t>
            </a:r>
            <a:r>
              <a:rPr lang="en-US" sz="1600" dirty="0">
                <a:hlinkClick r:id="rId3"/>
              </a:rPr>
              <a:t>://</a:t>
            </a:r>
            <a:r>
              <a:rPr lang="en-US" sz="1600" dirty="0" smtClean="0">
                <a:hlinkClick r:id="rId3"/>
              </a:rPr>
              <a:t>www.jbserver.com/downloads/games/doom/misc/shareware/doom1.wad.zip</a:t>
            </a:r>
            <a:endParaRPr lang="en-US" sz="1600" dirty="0" smtClean="0"/>
          </a:p>
          <a:p>
            <a:r>
              <a:rPr lang="en-US" sz="1800" dirty="0" smtClean="0"/>
              <a:t>Unzip the WAD file to get DOOM.WAD</a:t>
            </a:r>
          </a:p>
          <a:p>
            <a:r>
              <a:rPr lang="en-US" sz="1800" dirty="0" smtClean="0"/>
              <a:t>Play using </a:t>
            </a:r>
            <a:r>
              <a:rPr lang="en-US" sz="1800" b="1" dirty="0" smtClean="0"/>
              <a:t>./chocolate-doom –</a:t>
            </a:r>
            <a:r>
              <a:rPr lang="en-US" sz="1800" b="1" dirty="0" err="1" smtClean="0"/>
              <a:t>iwad</a:t>
            </a:r>
            <a:r>
              <a:rPr lang="en-US" sz="1800" b="1" dirty="0" smtClean="0"/>
              <a:t> DOOM.WAD</a:t>
            </a:r>
            <a:endParaRPr lang="en-US" sz="1800" dirty="0"/>
          </a:p>
          <a:p>
            <a:r>
              <a:rPr lang="en-US" sz="1800" dirty="0" smtClean="0"/>
              <a:t>See the 4 cores of the ARM burning to enable game play!</a:t>
            </a:r>
          </a:p>
          <a:p>
            <a:endParaRPr 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324774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Raspi</a:t>
            </a:r>
            <a:r>
              <a:rPr lang="en-US" dirty="0" smtClean="0"/>
              <a:t>: GPU Gaming – Quake III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389120"/>
          </a:xfrm>
        </p:spPr>
        <p:txBody>
          <a:bodyPr>
            <a:normAutofit fontScale="47500" lnSpcReduction="20000"/>
          </a:bodyPr>
          <a:lstStyle/>
          <a:p>
            <a:r>
              <a:rPr lang="en-US" sz="2500" dirty="0" smtClean="0"/>
              <a:t>Quake III Arena has been ported to </a:t>
            </a:r>
            <a:r>
              <a:rPr lang="en-US" sz="2500" dirty="0" err="1" smtClean="0"/>
              <a:t>Raspi</a:t>
            </a:r>
            <a:endParaRPr lang="en-US" sz="2500" dirty="0" smtClean="0"/>
          </a:p>
          <a:p>
            <a:r>
              <a:rPr lang="en-US" sz="2500" dirty="0" smtClean="0"/>
              <a:t>Steps to compile and play Quake III for </a:t>
            </a:r>
            <a:r>
              <a:rPr lang="en-US" sz="2500" dirty="0" err="1" smtClean="0"/>
              <a:t>Raspi</a:t>
            </a:r>
            <a:endParaRPr lang="en-US" sz="2500" dirty="0" smtClean="0"/>
          </a:p>
          <a:p>
            <a:pPr lvl="1"/>
            <a:r>
              <a:rPr lang="en-US" sz="2500" dirty="0" smtClean="0"/>
              <a:t>Install helper libraries</a:t>
            </a:r>
          </a:p>
          <a:p>
            <a:pPr marL="393192" lvl="1" indent="0">
              <a:buNone/>
            </a:pPr>
            <a:r>
              <a:rPr lang="en-US" sz="2500" dirty="0"/>
              <a:t> </a:t>
            </a:r>
            <a:r>
              <a:rPr lang="en-US" sz="2500" dirty="0" smtClean="0"/>
              <a:t>   	$ </a:t>
            </a:r>
            <a:r>
              <a:rPr lang="en-US" sz="2500" dirty="0" err="1"/>
              <a:t>sudo</a:t>
            </a:r>
            <a:r>
              <a:rPr lang="en-US" sz="2500" dirty="0"/>
              <a:t> apt-get install </a:t>
            </a:r>
            <a:r>
              <a:rPr lang="en-US" sz="2500" dirty="0" err="1"/>
              <a:t>git</a:t>
            </a:r>
            <a:r>
              <a:rPr lang="en-US" sz="2500" dirty="0"/>
              <a:t> </a:t>
            </a:r>
            <a:r>
              <a:rPr lang="en-US" sz="2500" dirty="0" err="1"/>
              <a:t>gcc</a:t>
            </a:r>
            <a:r>
              <a:rPr lang="en-US" sz="2500" dirty="0"/>
              <a:t> build-essential libsdl1.2-dev</a:t>
            </a:r>
            <a:endParaRPr lang="en-US" sz="2500" dirty="0" smtClean="0"/>
          </a:p>
          <a:p>
            <a:pPr lvl="1"/>
            <a:r>
              <a:rPr lang="en-US" sz="2500" dirty="0" smtClean="0"/>
              <a:t>Download the </a:t>
            </a:r>
            <a:r>
              <a:rPr lang="en-US" sz="2500" dirty="0" err="1" smtClean="0"/>
              <a:t>src</a:t>
            </a:r>
            <a:r>
              <a:rPr lang="en-US" sz="2500" dirty="0" smtClean="0"/>
              <a:t> code</a:t>
            </a:r>
          </a:p>
          <a:p>
            <a:pPr marL="667512" lvl="2" indent="0">
              <a:buNone/>
            </a:pPr>
            <a:r>
              <a:rPr lang="en-US" sz="2500" dirty="0" smtClean="0"/>
              <a:t>	$ </a:t>
            </a:r>
            <a:r>
              <a:rPr lang="en-US" sz="2500" dirty="0" err="1" smtClean="0"/>
              <a:t>git</a:t>
            </a:r>
            <a:r>
              <a:rPr lang="en-US" sz="2500" dirty="0" smtClean="0"/>
              <a:t> clone https://github.com/raspberrypi/quake3</a:t>
            </a:r>
          </a:p>
          <a:p>
            <a:pPr lvl="1"/>
            <a:r>
              <a:rPr lang="en-US" sz="2500" dirty="0" smtClean="0"/>
              <a:t>Unzip, modify “build.sh” for </a:t>
            </a:r>
            <a:r>
              <a:rPr lang="en-US" sz="2500" dirty="0" err="1" smtClean="0"/>
              <a:t>Raspi</a:t>
            </a:r>
            <a:endParaRPr lang="en-US" sz="2500" dirty="0" smtClean="0"/>
          </a:p>
          <a:p>
            <a:pPr lvl="2">
              <a:buFont typeface="Symbol"/>
              <a:buChar char="Þ"/>
            </a:pPr>
            <a:r>
              <a:rPr lang="en-US" sz="2500" dirty="0" smtClean="0"/>
              <a:t>ARM_LIBS=/opt/</a:t>
            </a:r>
            <a:r>
              <a:rPr lang="en-US" sz="2500" dirty="0" err="1" smtClean="0"/>
              <a:t>vc</a:t>
            </a:r>
            <a:r>
              <a:rPr lang="en-US" sz="2500" dirty="0" smtClean="0"/>
              <a:t>/lib</a:t>
            </a:r>
          </a:p>
          <a:p>
            <a:pPr lvl="2">
              <a:buFont typeface="Symbol"/>
              <a:buChar char="Þ"/>
            </a:pPr>
            <a:r>
              <a:rPr lang="en-US" sz="2500" dirty="0"/>
              <a:t>INCLUDES="-I/opt/</a:t>
            </a:r>
            <a:r>
              <a:rPr lang="en-US" sz="2500" dirty="0" err="1"/>
              <a:t>vc</a:t>
            </a:r>
            <a:r>
              <a:rPr lang="en-US" sz="2500" dirty="0"/>
              <a:t>/include -</a:t>
            </a:r>
            <a:r>
              <a:rPr lang="en-US" sz="2500" dirty="0" smtClean="0"/>
              <a:t>I/opt/</a:t>
            </a:r>
            <a:r>
              <a:rPr lang="en-US" sz="2500" dirty="0" err="1" smtClean="0"/>
              <a:t>vc</a:t>
            </a:r>
            <a:r>
              <a:rPr lang="en-US" sz="2500" dirty="0" smtClean="0"/>
              <a:t>/include/interface/</a:t>
            </a:r>
            <a:r>
              <a:rPr lang="en-US" sz="2500" dirty="0" err="1" smtClean="0"/>
              <a:t>vcos</a:t>
            </a:r>
            <a:r>
              <a:rPr lang="en-US" sz="2500" dirty="0" smtClean="0"/>
              <a:t>/</a:t>
            </a:r>
            <a:r>
              <a:rPr lang="en-US" sz="2500" dirty="0" err="1" smtClean="0"/>
              <a:t>pthreads</a:t>
            </a:r>
            <a:r>
              <a:rPr lang="en-US" sz="2500" dirty="0" smtClean="0"/>
              <a:t>“</a:t>
            </a:r>
          </a:p>
          <a:p>
            <a:pPr lvl="2">
              <a:buFont typeface="Symbol"/>
              <a:buChar char="Þ"/>
            </a:pPr>
            <a:r>
              <a:rPr lang="en-US" sz="2500" dirty="0" smtClean="0"/>
              <a:t>Comment CROSS_COMPILE=…</a:t>
            </a:r>
          </a:p>
          <a:p>
            <a:pPr lvl="2">
              <a:buFont typeface="Symbol"/>
              <a:buChar char="Þ"/>
            </a:pPr>
            <a:r>
              <a:rPr lang="en-US" sz="2500" dirty="0" smtClean="0"/>
              <a:t>Remove “-</a:t>
            </a:r>
            <a:r>
              <a:rPr lang="en-US" sz="2500" dirty="0" err="1" smtClean="0"/>
              <a:t>lvmcs_rpc_client</a:t>
            </a:r>
            <a:r>
              <a:rPr lang="en-US" sz="2500" dirty="0" smtClean="0"/>
              <a:t>” from LDFLAGS</a:t>
            </a:r>
          </a:p>
          <a:p>
            <a:pPr lvl="1"/>
            <a:r>
              <a:rPr lang="en-US" sz="2500" dirty="0" smtClean="0"/>
              <a:t>Type “./build.sh”</a:t>
            </a:r>
          </a:p>
          <a:p>
            <a:pPr lvl="2"/>
            <a:r>
              <a:rPr lang="en-US" sz="2500" dirty="0" smtClean="0"/>
              <a:t>It’ll take some time to compile (~ 7mins on Class 4 card)</a:t>
            </a:r>
          </a:p>
          <a:p>
            <a:pPr lvl="1"/>
            <a:r>
              <a:rPr lang="en-US" sz="2500" dirty="0" smtClean="0"/>
              <a:t>The final game binary will be in build/release-</a:t>
            </a:r>
            <a:r>
              <a:rPr lang="en-US" sz="2500" dirty="0" err="1" smtClean="0"/>
              <a:t>linux</a:t>
            </a:r>
            <a:r>
              <a:rPr lang="en-US" sz="2500" dirty="0" smtClean="0"/>
              <a:t>-arm</a:t>
            </a:r>
          </a:p>
          <a:p>
            <a:pPr lvl="2"/>
            <a:r>
              <a:rPr lang="en-US" sz="2500" b="1" dirty="0" smtClean="0"/>
              <a:t>ioquake3.arm</a:t>
            </a:r>
          </a:p>
          <a:p>
            <a:pPr lvl="1"/>
            <a:r>
              <a:rPr lang="en-US" sz="2500" dirty="0" smtClean="0"/>
              <a:t>Quake III needs </a:t>
            </a:r>
            <a:r>
              <a:rPr lang="en-US" sz="2500" b="1" dirty="0" smtClean="0"/>
              <a:t>pak3</a:t>
            </a:r>
            <a:r>
              <a:rPr lang="en-US" sz="2500" dirty="0" smtClean="0"/>
              <a:t> files in </a:t>
            </a:r>
            <a:r>
              <a:rPr lang="en-US" sz="2500" b="1" dirty="0" smtClean="0"/>
              <a:t>baseq3</a:t>
            </a:r>
            <a:r>
              <a:rPr lang="en-US" sz="2500" dirty="0" smtClean="0"/>
              <a:t> directory</a:t>
            </a:r>
          </a:p>
          <a:p>
            <a:pPr lvl="1"/>
            <a:r>
              <a:rPr lang="en-US" sz="2500" dirty="0" smtClean="0"/>
              <a:t>Type “./ioquake3.arm” from a </a:t>
            </a:r>
            <a:r>
              <a:rPr lang="en-US" sz="2500" dirty="0" err="1" smtClean="0"/>
              <a:t>Raspi</a:t>
            </a:r>
            <a:r>
              <a:rPr lang="en-US" sz="2500" dirty="0" smtClean="0"/>
              <a:t> terminal to start Quake III…</a:t>
            </a:r>
          </a:p>
          <a:p>
            <a:pPr lvl="1"/>
            <a:r>
              <a:rPr lang="en-US" sz="2500" dirty="0" smtClean="0"/>
              <a:t>Since it’s a GPU-accelerated game</a:t>
            </a:r>
          </a:p>
          <a:p>
            <a:pPr lvl="2"/>
            <a:r>
              <a:rPr lang="en-US" sz="2500" dirty="0" smtClean="0"/>
              <a:t>The load on the ARM will be far less with much better 3D graphics quality</a:t>
            </a:r>
          </a:p>
          <a:p>
            <a:r>
              <a:rPr lang="en-US" sz="2500" dirty="0" smtClean="0"/>
              <a:t>A detailed review of Quake III Arena source code can be found at:</a:t>
            </a:r>
          </a:p>
          <a:p>
            <a:pPr lvl="1">
              <a:buNone/>
            </a:pPr>
            <a:r>
              <a:rPr lang="en-US" dirty="0" smtClean="0"/>
              <a:t>			http://fabiensanglard.net/quake3/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2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directions -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Learn symbolic math using Wolfram </a:t>
            </a:r>
            <a:r>
              <a:rPr lang="en-US" dirty="0" err="1" smtClean="0"/>
              <a:t>Mathematica</a:t>
            </a:r>
            <a:endParaRPr lang="en-US" dirty="0" smtClean="0"/>
          </a:p>
          <a:p>
            <a:r>
              <a:rPr lang="en-US" dirty="0" smtClean="0"/>
              <a:t>Customize </a:t>
            </a:r>
            <a:r>
              <a:rPr lang="en-US" dirty="0" err="1" smtClean="0"/>
              <a:t>RasPi</a:t>
            </a:r>
            <a:endParaRPr lang="en-US" dirty="0" smtClean="0"/>
          </a:p>
          <a:p>
            <a:pPr lvl="1"/>
            <a:r>
              <a:rPr lang="en-US" dirty="0"/>
              <a:t>Learn Embedded Linux, Linux porting, Linux device </a:t>
            </a:r>
            <a:r>
              <a:rPr lang="en-US" dirty="0" smtClean="0"/>
              <a:t>drivers</a:t>
            </a:r>
          </a:p>
          <a:p>
            <a:pPr lvl="2"/>
            <a:r>
              <a:rPr lang="en-US" dirty="0" smtClean="0"/>
              <a:t>Build and compile a custom Linux kernel</a:t>
            </a:r>
          </a:p>
          <a:p>
            <a:pPr lvl="2"/>
            <a:r>
              <a:rPr lang="en-US" dirty="0" smtClean="0"/>
              <a:t>Develop device drivers for custom devices / modules</a:t>
            </a:r>
          </a:p>
          <a:p>
            <a:r>
              <a:rPr lang="en-US" dirty="0" smtClean="0"/>
              <a:t>Use the </a:t>
            </a:r>
            <a:r>
              <a:rPr lang="en-US" dirty="0" err="1" smtClean="0"/>
              <a:t>RasPi’s</a:t>
            </a:r>
            <a:r>
              <a:rPr lang="en-US" dirty="0" smtClean="0"/>
              <a:t> Graphics Accelerators (VPU) for developing rich media applications and entertainment </a:t>
            </a:r>
            <a:r>
              <a:rPr lang="en-US" dirty="0" err="1" smtClean="0"/>
              <a:t>centres</a:t>
            </a:r>
            <a:endParaRPr lang="en-US" dirty="0" smtClean="0"/>
          </a:p>
          <a:p>
            <a:pPr lvl="1"/>
            <a:r>
              <a:rPr lang="en-US" dirty="0" err="1" smtClean="0"/>
              <a:t>OpenMAX</a:t>
            </a:r>
            <a:endParaRPr lang="en-US" dirty="0" smtClean="0"/>
          </a:p>
          <a:p>
            <a:pPr lvl="1"/>
            <a:r>
              <a:rPr lang="en-US" dirty="0" err="1" smtClean="0"/>
              <a:t>OpenVG</a:t>
            </a:r>
            <a:endParaRPr lang="en-US" dirty="0" smtClean="0"/>
          </a:p>
          <a:p>
            <a:pPr lvl="1"/>
            <a:r>
              <a:rPr lang="en-US" dirty="0" smtClean="0"/>
              <a:t>OpenGL ES2.0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59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directions - 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Interface various hardware such as sensors like GPS, GSM, Bluetooth modules </a:t>
            </a:r>
          </a:p>
          <a:p>
            <a:r>
              <a:rPr lang="en-US" dirty="0" smtClean="0"/>
              <a:t>Use the </a:t>
            </a:r>
            <a:r>
              <a:rPr lang="en-US" dirty="0" err="1" smtClean="0"/>
              <a:t>RasPi’s</a:t>
            </a:r>
            <a:r>
              <a:rPr lang="en-US" dirty="0" smtClean="0"/>
              <a:t> I</a:t>
            </a:r>
            <a:r>
              <a:rPr lang="en-US" baseline="30000" dirty="0" smtClean="0"/>
              <a:t>2</a:t>
            </a:r>
            <a:r>
              <a:rPr lang="en-US" dirty="0" smtClean="0"/>
              <a:t>C and SPI buses for device interfacing</a:t>
            </a:r>
          </a:p>
          <a:p>
            <a:r>
              <a:rPr lang="en-US" dirty="0" smtClean="0"/>
              <a:t>Connect MIPI compliant camera modules to the camera connector, capture still images and video</a:t>
            </a:r>
          </a:p>
          <a:p>
            <a:r>
              <a:rPr lang="en-US" dirty="0" smtClean="0"/>
              <a:t>Connect DSI compliant LCD / LED displays and touchscreens on the display connector</a:t>
            </a:r>
          </a:p>
        </p:txBody>
      </p:sp>
    </p:spTree>
    <p:extLst>
      <p:ext uri="{BB962C8B-B14F-4D97-AF65-F5344CB8AC3E}">
        <p14:creationId xmlns:p14="http://schemas.microsoft.com/office/powerpoint/2010/main" val="273901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9838</TotalTime>
  <Words>2500</Words>
  <Application>Microsoft Office PowerPoint</Application>
  <PresentationFormat>On-screen Show (4:3)</PresentationFormat>
  <Paragraphs>449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Flow</vt:lpstr>
      <vt:lpstr>PowerPoint Presentation</vt:lpstr>
      <vt:lpstr>Raspi 3 – About</vt:lpstr>
      <vt:lpstr>Raspi 3 – Goals</vt:lpstr>
      <vt:lpstr>Raspi – Response</vt:lpstr>
      <vt:lpstr>Raspi – Projects!</vt:lpstr>
      <vt:lpstr>Raspi 3 – A hand-held SBC!</vt:lpstr>
      <vt:lpstr>Raspi 3 – Interfaces (board view)</vt:lpstr>
      <vt:lpstr>Raspi 3 – Fully hooked up</vt:lpstr>
      <vt:lpstr>Raspi 3 – Hardware</vt:lpstr>
      <vt:lpstr>Raspi – Software (OS)</vt:lpstr>
      <vt:lpstr>Raspi – Software (Apps)</vt:lpstr>
      <vt:lpstr>Raspi – Bringup (1/2)</vt:lpstr>
      <vt:lpstr>Raspi – Bringup (2/2)</vt:lpstr>
      <vt:lpstr>Raspi – 1st run config</vt:lpstr>
      <vt:lpstr>Raspi Interaction: Terminal</vt:lpstr>
      <vt:lpstr>Raspi Boot-time Messages: dmesg</vt:lpstr>
      <vt:lpstr>Raspi Control: SSH</vt:lpstr>
      <vt:lpstr>Raspi File transfer: WinSCP</vt:lpstr>
      <vt:lpstr>Raspi File transfer (Windows – Linux)</vt:lpstr>
      <vt:lpstr>Raspi - Keeping up to date</vt:lpstr>
      <vt:lpstr>Embedded “Time”</vt:lpstr>
      <vt:lpstr>Raspi: Time and constraints</vt:lpstr>
      <vt:lpstr>Raspi3: GPIO Pinout</vt:lpstr>
      <vt:lpstr>Raspi Time: I2C RTC (1/2)</vt:lpstr>
      <vt:lpstr>Raspi Time: I2C RTC (2/2)</vt:lpstr>
      <vt:lpstr>Raspi: GPU - probing</vt:lpstr>
      <vt:lpstr>Raspi: GPU /opt/vc utils</vt:lpstr>
      <vt:lpstr>Raspi: AV playback</vt:lpstr>
      <vt:lpstr>Raspi: Media Server (Kodi / OSMC)</vt:lpstr>
      <vt:lpstr>Raspi: GrovePi introduction</vt:lpstr>
      <vt:lpstr>Raspi: GrovePi setup</vt:lpstr>
      <vt:lpstr>Raspi: GrovePi usage</vt:lpstr>
      <vt:lpstr>Raspi Oscilloscope: Piscope</vt:lpstr>
      <vt:lpstr>Raspi: Graphics and Imaging</vt:lpstr>
      <vt:lpstr>Raspi: Pi Camera details</vt:lpstr>
      <vt:lpstr>Raspi: Camera module usage</vt:lpstr>
      <vt:lpstr>Raspi: Surveillance (Jessie)</vt:lpstr>
      <vt:lpstr>Raspi: ARM Gaming – DOOM</vt:lpstr>
      <vt:lpstr>Raspi: GPU Gaming – Quake III</vt:lpstr>
      <vt:lpstr>Future directions - software</vt:lpstr>
      <vt:lpstr>Future directions - hardware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An introductory Course</dc:title>
  <dc:creator>deepak</dc:creator>
  <cp:lastModifiedBy>Deepak Nayak</cp:lastModifiedBy>
  <cp:revision>753</cp:revision>
  <dcterms:created xsi:type="dcterms:W3CDTF">2014-02-09T03:53:18Z</dcterms:created>
  <dcterms:modified xsi:type="dcterms:W3CDTF">2017-04-06T04:34:00Z</dcterms:modified>
</cp:coreProperties>
</file>